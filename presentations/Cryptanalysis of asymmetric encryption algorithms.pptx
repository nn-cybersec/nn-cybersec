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263" r:id="rId2"/>
    <p:sldId id="260" r:id="rId3"/>
    <p:sldId id="264" r:id="rId4"/>
    <p:sldId id="265" r:id="rId5"/>
    <p:sldId id="271" r:id="rId6"/>
    <p:sldId id="266" r:id="rId7"/>
    <p:sldId id="270" r:id="rId8"/>
    <p:sldId id="269" r:id="rId9"/>
    <p:sldId id="272" r:id="rId10"/>
    <p:sldId id="268" r:id="rId11"/>
    <p:sldId id="356" r:id="rId12"/>
    <p:sldId id="362" r:id="rId13"/>
    <p:sldId id="361" r:id="rId14"/>
    <p:sldId id="360" r:id="rId15"/>
    <p:sldId id="359" r:id="rId16"/>
    <p:sldId id="358" r:id="rId17"/>
    <p:sldId id="357" r:id="rId18"/>
    <p:sldId id="363" r:id="rId19"/>
    <p:sldId id="367" r:id="rId20"/>
    <p:sldId id="366" r:id="rId21"/>
    <p:sldId id="365" r:id="rId22"/>
    <p:sldId id="364" r:id="rId23"/>
    <p:sldId id="267" r:id="rId24"/>
    <p:sldId id="370" r:id="rId25"/>
    <p:sldId id="368" r:id="rId26"/>
    <p:sldId id="375" r:id="rId27"/>
    <p:sldId id="374" r:id="rId28"/>
    <p:sldId id="373" r:id="rId29"/>
    <p:sldId id="372" r:id="rId30"/>
    <p:sldId id="371" r:id="rId31"/>
    <p:sldId id="369" r:id="rId32"/>
    <p:sldId id="382" r:id="rId33"/>
    <p:sldId id="381" r:id="rId34"/>
    <p:sldId id="380" r:id="rId35"/>
    <p:sldId id="379" r:id="rId36"/>
    <p:sldId id="383" r:id="rId37"/>
    <p:sldId id="384" r:id="rId38"/>
    <p:sldId id="385" r:id="rId39"/>
    <p:sldId id="378" r:id="rId40"/>
    <p:sldId id="377" r:id="rId41"/>
    <p:sldId id="376" r:id="rId42"/>
    <p:sldId id="390" r:id="rId43"/>
    <p:sldId id="389" r:id="rId44"/>
    <p:sldId id="388" r:id="rId45"/>
    <p:sldId id="387" r:id="rId46"/>
    <p:sldId id="392" r:id="rId47"/>
    <p:sldId id="396" r:id="rId48"/>
    <p:sldId id="395" r:id="rId49"/>
    <p:sldId id="394" r:id="rId50"/>
    <p:sldId id="393" r:id="rId51"/>
    <p:sldId id="391" r:id="rId52"/>
    <p:sldId id="401" r:id="rId53"/>
    <p:sldId id="400" r:id="rId54"/>
    <p:sldId id="399" r:id="rId55"/>
    <p:sldId id="398" r:id="rId56"/>
    <p:sldId id="397" r:id="rId57"/>
    <p:sldId id="386" r:id="rId58"/>
    <p:sldId id="405" r:id="rId59"/>
    <p:sldId id="404" r:id="rId60"/>
    <p:sldId id="403" r:id="rId61"/>
    <p:sldId id="402" r:id="rId62"/>
    <p:sldId id="412" r:id="rId63"/>
    <p:sldId id="411" r:id="rId64"/>
    <p:sldId id="410" r:id="rId65"/>
    <p:sldId id="409" r:id="rId66"/>
    <p:sldId id="408" r:id="rId67"/>
    <p:sldId id="407" r:id="rId68"/>
    <p:sldId id="419" r:id="rId69"/>
    <p:sldId id="418" r:id="rId70"/>
    <p:sldId id="417" r:id="rId71"/>
    <p:sldId id="416" r:id="rId72"/>
    <p:sldId id="415" r:id="rId73"/>
    <p:sldId id="413" r:id="rId74"/>
    <p:sldId id="414" r:id="rId75"/>
    <p:sldId id="261" r:id="rId7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11"/>
    <p:restoredTop sz="94710"/>
  </p:normalViewPr>
  <p:slideViewPr>
    <p:cSldViewPr snapToGrid="0" snapToObjects="1">
      <p:cViewPr varScale="1">
        <p:scale>
          <a:sx n="72" d="100"/>
          <a:sy n="72" d="100"/>
        </p:scale>
        <p:origin x="-998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F13F3-EF8D-4A37-9DB9-922386DF338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99019-76BD-4CF4-B648-57EC41C38BBD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ru.wikipedia.org/wiki/%D0%90%D0%BD%D0%B3%D0%BB%D0%B8%D0%B9%D1%81%D0%BA%D0%B8%D0%B9_%D1%8F%D0%B7%D1%8B%D0%B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ru.wikipedia.org/wiki/%D0%90%D0%BD%D0%B3%D0%BB%D0%B8%D0%B9%D1%81%D0%BA%D0%B8%D0%B9_%D1%8F%D0%B7%D1%8B%D0%B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ru.wikipedia.org/wiki/%D0%90%D0%BD%D0%B3%D0%BB%D0%B8%D0%B9%D1%81%D0%BA%D0%B8%D0%B9_%D1%8F%D0%B7%D1%8B%D0%B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ru.wikipedia.org/wiki/%D0%90%D0%BD%D0%B3%D0%BB%D0%B8%D0%B9%D1%81%D0%BA%D0%B8%D0%B9_%D1%8F%D0%B7%D1%8B%D0%B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ru.wikipedia.org/wiki/%D0%90%D0%BD%D0%B3%D0%BB%D0%B8%D0%B9%D1%81%D0%BA%D0%B8%D0%B9_%D1%8F%D0%B7%D1%8B%D0%B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ru.wikipedia.org/wiki/%D0%90%D0%BD%D0%B3%D0%BB%D0%B8%D0%B9%D1%81%D0%BA%D0%B8%D0%B9_%D1%8F%D0%B7%D1%8B%D0%BA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ru.wikipedia.org/wiki/%D0%90%D0%BD%D0%B3%D0%BB%D0%B8%D0%B9%D1%81%D0%BA%D0%B8%D0%B9_%D1%8F%D0%B7%D1%8B%D0%BA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ru.wikipedia.org/wiki/%D0%90%D0%BD%D0%B3%D0%BB%D0%B8%D0%B9%D1%81%D0%BA%D0%B8%D0%B9_%D1%8F%D0%B7%D1%8B%D0%B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ru.wikipedia.org/wiki/%D0%90%D0%BD%D0%B3%D0%BB%D0%B8%D0%B9%D1%81%D0%BA%D0%B8%D0%B9_%D1%8F%D0%B7%D1%8B%D0%BA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ru.wikipedia.org/wiki/%D0%90%D0%BD%D0%B3%D0%BB%D0%B8%D0%B9%D1%81%D0%BA%D0%B8%D0%B9_%D1%8F%D0%B7%D1%8B%D0%BA" TargetMode="External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123B533-9AAA-A1CC-E7CE-DDBD73169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C7DA9B4-9B9F-A361-2520-5FFEA31356B4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EDEDF4B-761F-61E7-6A31-CA54BEC310B7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21A1178-14D5-FF26-403F-95764A20C1A2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20E603B-193D-9B1A-D474-266217C339E9}"/>
              </a:ext>
            </a:extLst>
          </p:cNvPr>
          <p:cNvSpPr txBox="1"/>
          <p:nvPr/>
        </p:nvSpPr>
        <p:spPr>
          <a:xfrm>
            <a:off x="1135578" y="1701719"/>
            <a:ext cx="106878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Криптоанализ асимметричных алгоритмов шифрования.</a:t>
            </a:r>
            <a:endParaRPr lang="e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7FC7A1F-9EF8-EE1F-DB21-6D7FC9AC839A}"/>
              </a:ext>
            </a:extLst>
          </p:cNvPr>
          <p:cNvSpPr/>
          <p:nvPr/>
        </p:nvSpPr>
        <p:spPr>
          <a:xfrm>
            <a:off x="640080" y="1573924"/>
            <a:ext cx="109728" cy="2834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CE714E3C-602B-209E-0E60-C141CD248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EF9F6C1-43A5-83FA-0315-A03EC7CD7B9C}"/>
              </a:ext>
            </a:extLst>
          </p:cNvPr>
          <p:cNvSpPr txBox="1"/>
          <p:nvPr/>
        </p:nvSpPr>
        <p:spPr>
          <a:xfrm>
            <a:off x="1135577" y="3111027"/>
            <a:ext cx="542471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Ищукова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Евгения Александровна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к.т.н., доцент, доцент Института Компьютерных Технологий и Информационной Безопасности Южного Федерального Университета,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uaishukova@sfedu.ru</a:t>
            </a:r>
            <a:endParaRPr lang="e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6314D0B-5C52-1F55-35C3-DE335D8076B4}"/>
              </a:ext>
            </a:extLst>
          </p:cNvPr>
          <p:cNvSpPr txBox="1"/>
          <p:nvPr/>
        </p:nvSpPr>
        <p:spPr>
          <a:xfrm>
            <a:off x="1513953" y="6108633"/>
            <a:ext cx="86764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Международная школа молодых ученых «Искусственный интеллект и кибербезопасность»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25-28 ноября 2025, Ставрополь, Россия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09891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483924" y="749308"/>
            <a:ext cx="6000032" cy="50170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47561"/>
            <a:ext cx="7055361" cy="4286464"/>
          </a:xfrm>
          <a:prstGeom prst="rect">
            <a:avLst/>
          </a:prstGeom>
        </p:spPr>
      </p:pic>
      <p:pic>
        <p:nvPicPr>
          <p:cNvPr id="8" name="Picture 2" descr="How RSA public key encryption works | Eric's play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94862" y="1294617"/>
            <a:ext cx="5411375" cy="3607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583499" y="2636912"/>
            <a:ext cx="1008112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Что мы знаем про простые числа?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3" y="1114463"/>
            <a:ext cx="12191999" cy="857250"/>
          </a:xfrm>
          <a:prstGeom prst="rect">
            <a:avLst/>
          </a:prstGeom>
        </p:spPr>
        <p:txBody>
          <a:bodyPr>
            <a:normAutofit fontScale="82500" lnSpcReduction="1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Две основные математические проблемы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8" name="Стрелка вниз 7"/>
          <p:cNvSpPr/>
          <p:nvPr/>
        </p:nvSpPr>
        <p:spPr>
          <a:xfrm rot="19466674">
            <a:off x="7737069" y="1976231"/>
            <a:ext cx="576064" cy="11521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вниз 8"/>
          <p:cNvSpPr/>
          <p:nvPr/>
        </p:nvSpPr>
        <p:spPr>
          <a:xfrm rot="1743544">
            <a:off x="4320575" y="2062439"/>
            <a:ext cx="576064" cy="11521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2543605" y="3038141"/>
            <a:ext cx="316835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Задача факторизации</a:t>
            </a:r>
          </a:p>
        </p:txBody>
      </p:sp>
      <p:sp>
        <p:nvSpPr>
          <p:cNvPr id="16" name="Заголовок 1"/>
          <p:cNvSpPr txBox="1">
            <a:spLocks/>
          </p:cNvSpPr>
          <p:nvPr/>
        </p:nvSpPr>
        <p:spPr>
          <a:xfrm>
            <a:off x="7248128" y="3038141"/>
            <a:ext cx="3840427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Задача дискретного логарифмирования</a:t>
            </a:r>
          </a:p>
        </p:txBody>
      </p:sp>
      <p:sp>
        <p:nvSpPr>
          <p:cNvPr id="17" name="Заголовок 1"/>
          <p:cNvSpPr txBox="1">
            <a:spLocks/>
          </p:cNvSpPr>
          <p:nvPr/>
        </p:nvSpPr>
        <p:spPr>
          <a:xfrm>
            <a:off x="2447595" y="3830229"/>
            <a:ext cx="316835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lang="en-US" sz="3600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N=p*q</a:t>
            </a:r>
            <a:endParaRPr lang="ru-RU" sz="3600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7440149" y="3830229"/>
            <a:ext cx="316835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lang="en-US" sz="3600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Y= </a:t>
            </a:r>
            <a:r>
              <a:rPr lang="en-US" sz="3600" dirty="0" err="1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g</a:t>
            </a:r>
            <a:r>
              <a:rPr lang="en-US" sz="3600" baseline="30000" dirty="0" err="1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x</a:t>
            </a:r>
            <a:r>
              <a:rPr lang="en-US" sz="3600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mod p</a:t>
            </a:r>
            <a:endParaRPr lang="ru-RU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6" y="589149"/>
            <a:ext cx="12191999" cy="8572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Задача факторизации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228632" y="1235497"/>
            <a:ext cx="316835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lang="en-US" sz="3600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N=p*q</a:t>
            </a:r>
            <a:endParaRPr lang="ru-RU" sz="3600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31371" y="2060848"/>
            <a:ext cx="115212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RSA-260 has 260 decimal symbols (862 bits) and has not yet been factored</a:t>
            </a:r>
            <a:endParaRPr lang="ru-RU" dirty="0"/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527381" y="2348880"/>
            <a:ext cx="9025003" cy="553998"/>
          </a:xfrm>
          <a:prstGeom prst="rect">
            <a:avLst/>
          </a:prstGeom>
          <a:solidFill>
            <a:srgbClr val="F8F9F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000" dirty="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RSA-260 = 2211282552952966643528108525502623092761208950247001539441374831912882294140 2001986512729726569746599085900330031400051170742204560859276357953757185954 2988389587092292384910067030341246205457845664136645406842143612930176940208 46391065875914794251435144458199</a:t>
            </a:r>
            <a:r>
              <a:rPr lang="ru-RU" sz="600" dirty="0">
                <a:latin typeface="Arial" pitchFamily="34" charset="0"/>
                <a:cs typeface="Arial" pitchFamily="34" charset="0"/>
              </a:rPr>
              <a:t> 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527381" y="3068962"/>
            <a:ext cx="115212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RSA-2048 has 2048 bits (617 decimal symbols). This is the largest of the RSA numbers and is awarded a $ 200,000 prize.</a:t>
            </a:r>
            <a:endParaRPr lang="ru-RU" dirty="0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527382" y="3645026"/>
            <a:ext cx="10896533" cy="1323439"/>
          </a:xfrm>
          <a:prstGeom prst="rect">
            <a:avLst/>
          </a:prstGeom>
          <a:solidFill>
            <a:srgbClr val="F8F9F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0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RSA-2048 = 2519590847565789349402718324004839857142928212620403202777713783604366202070 7595556264018525880784406918290641249515082189298559149176184502808489120072 8449926873928072877767359714183472702618963750149718246911650776133798590957 0009733045974880842840179742910064245869181719511874612151517265463228221686 9987549182422433637259085141865462043576798423387184774447920739934236584823 8242811981638150106748104516603773060562016196762561338441436038339044149526 3443219011465754445417842402092461651572335077870774981712577246796292638635 6373289912154831438167899885040445364023527381951378636564391212010397122822120720357</a:t>
            </a:r>
            <a:r>
              <a:rPr lang="ru-RU" sz="600" dirty="0">
                <a:latin typeface="Arial" pitchFamily="34" charset="0"/>
                <a:cs typeface="Arial" pitchFamily="34" charset="0"/>
              </a:rPr>
              <a:t> 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527383" y="5085184"/>
            <a:ext cx="43224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https://en.wikipedia.org/wiki/RSA_numbers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3" y="857250"/>
            <a:ext cx="12191999" cy="8572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RSA (</a:t>
            </a:r>
            <a:r>
              <a:rPr kumimoji="0" lang="ru-RU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генерация ключа</a:t>
            </a: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)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19403" y="1916832"/>
            <a:ext cx="1075319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Пусть</a:t>
            </a:r>
            <a:r>
              <a:rPr lang="en-US" sz="2400" dirty="0"/>
              <a:t> </a:t>
            </a:r>
            <a:r>
              <a:rPr lang="en-US" sz="2400" b="1" dirty="0"/>
              <a:t>p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en-US" sz="2400" b="1" dirty="0"/>
              <a:t>q</a:t>
            </a:r>
            <a:r>
              <a:rPr lang="en-US" sz="2400" dirty="0"/>
              <a:t> </a:t>
            </a:r>
            <a:r>
              <a:rPr lang="ru-RU" sz="2400" dirty="0"/>
              <a:t> - два простых числа</a:t>
            </a:r>
            <a:endParaRPr lang="en-US" sz="2400" dirty="0"/>
          </a:p>
          <a:p>
            <a:r>
              <a:rPr lang="ru-RU" sz="2400" dirty="0"/>
              <a:t>Найдем их произведение</a:t>
            </a:r>
            <a:r>
              <a:rPr lang="en-US" sz="2400" dirty="0"/>
              <a:t>: </a:t>
            </a:r>
            <a:r>
              <a:rPr lang="en-US" sz="2400" b="1" dirty="0"/>
              <a:t>n = p * q</a:t>
            </a:r>
          </a:p>
          <a:p>
            <a:r>
              <a:rPr lang="ru-RU" sz="2400" dirty="0"/>
              <a:t>Вычислим функцию Эйлера</a:t>
            </a:r>
            <a:r>
              <a:rPr lang="en-US" sz="2400" dirty="0"/>
              <a:t>: </a:t>
            </a:r>
            <a:r>
              <a:rPr lang="el-GR" sz="2400" b="1" dirty="0"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2400" dirty="0"/>
              <a:t> </a:t>
            </a:r>
            <a:r>
              <a:rPr lang="ru-RU" sz="2400" b="1" dirty="0"/>
              <a:t>(</a:t>
            </a:r>
            <a:r>
              <a:rPr lang="en-US" sz="2400" b="1" dirty="0"/>
              <a:t>n</a:t>
            </a:r>
            <a:r>
              <a:rPr lang="ru-RU" sz="2400" b="1" dirty="0"/>
              <a:t>)</a:t>
            </a:r>
            <a:r>
              <a:rPr lang="en-US" sz="2400" b="1" dirty="0"/>
              <a:t> = (p-1)*(q-1)</a:t>
            </a:r>
            <a:endParaRPr lang="en-US" sz="2400" dirty="0"/>
          </a:p>
          <a:p>
            <a:r>
              <a:rPr lang="ru-RU" sz="2400" dirty="0"/>
              <a:t>Выберем </a:t>
            </a:r>
            <a:r>
              <a:rPr lang="en-US" sz="2400" b="1" dirty="0"/>
              <a:t>e</a:t>
            </a:r>
            <a:r>
              <a:rPr lang="en-US" sz="2400" dirty="0"/>
              <a:t>, </a:t>
            </a:r>
            <a:r>
              <a:rPr lang="ru-RU" sz="2400" dirty="0" err="1"/>
              <a:t>взаимнопростое</a:t>
            </a:r>
            <a:r>
              <a:rPr lang="ru-RU" sz="2400" dirty="0"/>
              <a:t> с </a:t>
            </a:r>
            <a:r>
              <a:rPr lang="el-GR" sz="2400" b="1" dirty="0"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2400" dirty="0"/>
              <a:t> </a:t>
            </a:r>
            <a:r>
              <a:rPr lang="ru-RU" sz="2400" b="1" dirty="0"/>
              <a:t>(</a:t>
            </a:r>
            <a:r>
              <a:rPr lang="en-US" sz="2400" b="1" dirty="0"/>
              <a:t>n</a:t>
            </a:r>
            <a:r>
              <a:rPr lang="ru-RU" sz="2400" b="1" dirty="0"/>
              <a:t>)</a:t>
            </a:r>
            <a:r>
              <a:rPr lang="en-US" sz="2400" dirty="0"/>
              <a:t> </a:t>
            </a:r>
          </a:p>
          <a:p>
            <a:r>
              <a:rPr lang="en-US" sz="2400" dirty="0"/>
              <a:t>(</a:t>
            </a:r>
            <a:r>
              <a:rPr lang="ru-RU" sz="2400" dirty="0"/>
              <a:t>то есть НОД</a:t>
            </a:r>
            <a:r>
              <a:rPr lang="en-US" sz="2400" b="1" dirty="0"/>
              <a:t> (e, </a:t>
            </a:r>
            <a:r>
              <a:rPr lang="el-GR" sz="2400" b="1" dirty="0"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2400" b="1" dirty="0"/>
              <a:t> (</a:t>
            </a:r>
            <a:r>
              <a:rPr lang="en-US" sz="2400" b="1" dirty="0"/>
              <a:t>n</a:t>
            </a:r>
            <a:r>
              <a:rPr lang="ru-RU" sz="2400" b="1" dirty="0"/>
              <a:t>)</a:t>
            </a:r>
            <a:r>
              <a:rPr lang="en-US" sz="2400" b="1" dirty="0"/>
              <a:t>) = 1</a:t>
            </a:r>
            <a:r>
              <a:rPr lang="en-US" sz="2400" dirty="0"/>
              <a:t>)</a:t>
            </a:r>
          </a:p>
          <a:p>
            <a:r>
              <a:rPr lang="ru-RU" sz="2400" dirty="0"/>
              <a:t>Найдем</a:t>
            </a:r>
            <a:r>
              <a:rPr lang="en-US" sz="2400" dirty="0"/>
              <a:t> d:  </a:t>
            </a:r>
            <a:r>
              <a:rPr lang="en-US" sz="2400" b="1" dirty="0"/>
              <a:t>d = e</a:t>
            </a:r>
            <a:r>
              <a:rPr lang="en-US" sz="2400" b="1" baseline="30000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-1</a:t>
            </a:r>
            <a:r>
              <a:rPr lang="en-US" sz="2400" b="1" dirty="0"/>
              <a:t> mod </a:t>
            </a:r>
            <a:r>
              <a:rPr lang="el-GR" sz="2400" b="1" dirty="0"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2400" b="1" dirty="0"/>
              <a:t> (</a:t>
            </a:r>
            <a:r>
              <a:rPr lang="en-US" sz="2400" b="1" dirty="0"/>
              <a:t>n</a:t>
            </a:r>
            <a:r>
              <a:rPr lang="ru-RU" sz="2400" b="1" dirty="0"/>
              <a:t>)</a:t>
            </a:r>
            <a:r>
              <a:rPr lang="en-US" sz="2400" b="1" dirty="0"/>
              <a:t> </a:t>
            </a:r>
            <a:r>
              <a:rPr lang="ru-RU" sz="2400" dirty="0"/>
              <a:t>такое что </a:t>
            </a:r>
            <a:r>
              <a:rPr lang="en-US" sz="2400" b="1" dirty="0"/>
              <a:t>d*e = 1 mod </a:t>
            </a:r>
            <a:r>
              <a:rPr lang="el-GR" sz="2400" b="1" dirty="0"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2400" b="1" dirty="0"/>
              <a:t> (</a:t>
            </a:r>
            <a:r>
              <a:rPr lang="en-US" sz="2400" b="1" dirty="0"/>
              <a:t>n</a:t>
            </a:r>
            <a:r>
              <a:rPr lang="ru-RU" sz="2400" b="1" dirty="0"/>
              <a:t>)</a:t>
            </a:r>
            <a:endParaRPr lang="en-US" sz="2400" b="1" dirty="0"/>
          </a:p>
          <a:p>
            <a:r>
              <a:rPr lang="ru-RU" sz="2400" dirty="0"/>
              <a:t>Открытым ключом будет пара чисел</a:t>
            </a:r>
            <a:r>
              <a:rPr lang="en-US" sz="2400" dirty="0"/>
              <a:t> </a:t>
            </a:r>
            <a:r>
              <a:rPr lang="en-US" sz="2400" b="1" dirty="0"/>
              <a:t>(e, n)</a:t>
            </a:r>
          </a:p>
          <a:p>
            <a:r>
              <a:rPr lang="ru-RU" sz="2400" dirty="0"/>
              <a:t>Закрытым ключом будет пара чисел </a:t>
            </a:r>
            <a:r>
              <a:rPr lang="en-US" sz="2400" b="1" dirty="0"/>
              <a:t>(d, n)</a:t>
            </a:r>
            <a:endParaRPr lang="ru-RU" sz="2400" b="1" dirty="0"/>
          </a:p>
          <a:p>
            <a:endParaRPr lang="ru-RU" b="1" dirty="0"/>
          </a:p>
          <a:p>
            <a:endParaRPr lang="ru-RU" b="1" dirty="0"/>
          </a:p>
          <a:p>
            <a:endParaRPr lang="en-US" b="1" dirty="0"/>
          </a:p>
          <a:p>
            <a:endParaRPr lang="ru-RU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3" y="857250"/>
            <a:ext cx="12191999" cy="8572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RSA (</a:t>
            </a:r>
            <a:r>
              <a:rPr kumimoji="0" lang="ru-RU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шифрование</a:t>
            </a: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)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19403" y="1916835"/>
            <a:ext cx="1075319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Открытым ключом будет пара чисел</a:t>
            </a:r>
            <a:r>
              <a:rPr lang="en-US" sz="2400" dirty="0"/>
              <a:t> </a:t>
            </a:r>
            <a:r>
              <a:rPr lang="en-US" sz="2400" b="1" dirty="0"/>
              <a:t>(e, n)</a:t>
            </a:r>
          </a:p>
          <a:p>
            <a:r>
              <a:rPr lang="ru-RU" sz="2400" dirty="0"/>
              <a:t>Закрытым ключом будет пара чисел </a:t>
            </a:r>
            <a:r>
              <a:rPr lang="en-US" sz="2400" b="1" dirty="0"/>
              <a:t>(d, n)</a:t>
            </a:r>
            <a:endParaRPr lang="ru-RU" sz="2400" b="1" dirty="0"/>
          </a:p>
          <a:p>
            <a:endParaRPr lang="en-US" sz="2800" b="1" dirty="0"/>
          </a:p>
          <a:p>
            <a:pPr>
              <a:defRPr sz="2300"/>
            </a:pPr>
            <a:r>
              <a:rPr lang="en-US" sz="2800" b="1" dirty="0"/>
              <a:t>C = M</a:t>
            </a:r>
            <a:r>
              <a:rPr lang="en-US" sz="2800" b="1" baseline="31999" dirty="0"/>
              <a:t>e</a:t>
            </a:r>
            <a:r>
              <a:rPr lang="en-US" sz="2800" b="1" dirty="0"/>
              <a:t> (mod n)</a:t>
            </a:r>
          </a:p>
          <a:p>
            <a:pPr>
              <a:defRPr sz="2300"/>
            </a:pPr>
            <a:endParaRPr lang="en-US" sz="2800" b="1" dirty="0"/>
          </a:p>
          <a:p>
            <a:pPr>
              <a:defRPr sz="2300"/>
            </a:pPr>
            <a:r>
              <a:rPr lang="en-US" sz="2800" b="1" dirty="0"/>
              <a:t>M = </a:t>
            </a:r>
            <a:r>
              <a:rPr lang="en-US" sz="2800" b="1" dirty="0" err="1"/>
              <a:t>C</a:t>
            </a:r>
            <a:r>
              <a:rPr lang="en-US" sz="2800" b="1" baseline="31999" dirty="0" err="1"/>
              <a:t>d</a:t>
            </a:r>
            <a:r>
              <a:rPr lang="en-US" sz="2800" b="1" dirty="0"/>
              <a:t> (mod n)</a:t>
            </a:r>
          </a:p>
          <a:p>
            <a:endParaRPr lang="ru-RU" sz="2400" b="1" dirty="0"/>
          </a:p>
          <a:p>
            <a:endParaRPr lang="ru-RU" b="1" dirty="0"/>
          </a:p>
          <a:p>
            <a:endParaRPr lang="ru-RU" b="1" dirty="0"/>
          </a:p>
          <a:p>
            <a:endParaRPr lang="en-US" b="1" dirty="0"/>
          </a:p>
          <a:p>
            <a:endParaRPr lang="ru-RU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3" y="857250"/>
            <a:ext cx="12191999" cy="8572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RSA (</a:t>
            </a:r>
            <a:r>
              <a:rPr kumimoji="0" lang="ru-RU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подпись</a:t>
            </a: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)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19403" y="1916835"/>
            <a:ext cx="1075319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Открытым ключом будет пара чисел</a:t>
            </a:r>
            <a:r>
              <a:rPr lang="en-US" sz="2400" dirty="0"/>
              <a:t> </a:t>
            </a:r>
            <a:r>
              <a:rPr lang="en-US" sz="2400" b="1" dirty="0"/>
              <a:t>(e, n)</a:t>
            </a:r>
          </a:p>
          <a:p>
            <a:r>
              <a:rPr lang="ru-RU" sz="2400" dirty="0"/>
              <a:t>Закрытым ключом будет пара чисел </a:t>
            </a:r>
            <a:r>
              <a:rPr lang="en-US" sz="2400" b="1" dirty="0"/>
              <a:t>(d, n)</a:t>
            </a:r>
            <a:endParaRPr lang="ru-RU" sz="2400" b="1" dirty="0"/>
          </a:p>
          <a:p>
            <a:endParaRPr lang="en-US" sz="2800" b="1" dirty="0"/>
          </a:p>
          <a:p>
            <a:pPr>
              <a:defRPr sz="2300"/>
            </a:pPr>
            <a:r>
              <a:rPr lang="pt-BR" sz="2800" b="1" dirty="0"/>
              <a:t>S = M</a:t>
            </a:r>
            <a:r>
              <a:rPr lang="pt-BR" sz="2800" b="1" baseline="31999" dirty="0"/>
              <a:t>d</a:t>
            </a:r>
            <a:r>
              <a:rPr lang="pt-BR" sz="2800" b="1" dirty="0"/>
              <a:t> (mod n)</a:t>
            </a:r>
          </a:p>
          <a:p>
            <a:pPr>
              <a:defRPr sz="2300"/>
            </a:pPr>
            <a:endParaRPr lang="pt-BR" sz="2800" b="1" dirty="0"/>
          </a:p>
          <a:p>
            <a:pPr>
              <a:defRPr sz="2300"/>
            </a:pPr>
            <a:r>
              <a:rPr lang="pt-BR" sz="2800" b="1" dirty="0"/>
              <a:t>M = S</a:t>
            </a:r>
            <a:r>
              <a:rPr lang="pt-BR" sz="2800" b="1" baseline="31999" dirty="0"/>
              <a:t>e</a:t>
            </a:r>
            <a:r>
              <a:rPr lang="pt-BR" sz="2800" b="1" dirty="0"/>
              <a:t> (mod n)</a:t>
            </a:r>
          </a:p>
          <a:p>
            <a:endParaRPr lang="ru-RU" sz="2400" b="1" dirty="0"/>
          </a:p>
          <a:p>
            <a:endParaRPr lang="ru-RU" b="1" dirty="0"/>
          </a:p>
          <a:p>
            <a:endParaRPr lang="ru-RU" b="1" dirty="0"/>
          </a:p>
          <a:p>
            <a:endParaRPr lang="en-US" b="1" dirty="0"/>
          </a:p>
          <a:p>
            <a:endParaRPr lang="ru-RU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9675" y="836712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пробного деления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19675" y="1673424"/>
            <a:ext cx="1195265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Рассмотрим пример. Пусть необходимо разложить на множители число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= 84257901 методом пробного деления.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Составим базу данных из произведений простых чисел по три: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3*5*7 = 105;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ru-RU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11*13*17 = 2431;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ru-RU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19*23*29 = 12673.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Найдем наибольший общий делитель чисел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ru-RU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11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(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ru-RU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 Для этого будем использовать алгоритм Евклида. Чтобы найти НОД (84257901, 105) выполним следующие действия: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84257901 = 802456*105 + 21.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105 = 5*21 + 0.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Таким образом, получается, что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ru-RU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11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НОД(84257901, 105) = 21, а это значит, что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делится на 3 и на 7.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244363" y="848700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пробного деления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 descr="https://i.gyazo.com/af4f47fa18064524ab937e9e74a3d89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4037" y="1757421"/>
            <a:ext cx="4876800" cy="295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9" descr="https://i.gyazo.com/bb1bf7fea612b11b5980d1f2f9edaaa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2069" y="4275846"/>
            <a:ext cx="5130800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1" descr="https://i.gyazo.com/7c0fda1f6e86236e87055f97e0f7c5b6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70902" y="1829429"/>
            <a:ext cx="5321300" cy="337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9675" y="642958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пробного деления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9b8ed9fb3b9c82d7c5ff39e594cd833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3393" y="1767703"/>
            <a:ext cx="46355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i.gyazo.com/dee9c57fcdad927ba9c9f95d75fe257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70111" y="1767703"/>
            <a:ext cx="4457700" cy="303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39349" y="1114463"/>
            <a:ext cx="1195265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 как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 то нет смысла продолжать дальнейшие вычисления для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Мы получили, что 84257901 делится на 3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на 7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21 = 7*3;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=3). Теперь необходимо выполнить аналогичные действия для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21229 и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2431. 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https://i.gyazo.com/73eff161a613831a7c62cf5ce10ef98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74983" y="2252903"/>
            <a:ext cx="5016500" cy="369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i.gyazo.com/9408b732c98e1ee263c880509024665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23653" y="2286785"/>
            <a:ext cx="5143500" cy="3438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Заголовок 1"/>
          <p:cNvSpPr txBox="1">
            <a:spLocks/>
          </p:cNvSpPr>
          <p:nvPr/>
        </p:nvSpPr>
        <p:spPr>
          <a:xfrm>
            <a:off x="-72347" y="471505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пробного деления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https://i.gyazo.com/bbc4e21dc114c9d19ed2bd432a4bf05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9675" y="2133337"/>
            <a:ext cx="5727700" cy="3838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9675" y="471505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пробного деления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39042" y="1017802"/>
            <a:ext cx="1195265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 как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 то нет смысла продолжать дальнейшие вычисления для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К данному моменту мы получили, что 84257901 делится на 3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на 7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21 = 7*3;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=3) и еще на 13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13). Теперь необходимо выполнить аналогичные действия для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1633 и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12673. 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5478041" y="4359349"/>
            <a:ext cx="6096000" cy="1338828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результате вычислений получили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= 71, то есть простое число. Таким образом, получается, что 84257901 = 3</a:t>
            </a:r>
            <a:r>
              <a:rPr lang="ru-RU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*7</a:t>
            </a:r>
            <a:r>
              <a:rPr lang="ru-RU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*13*23*71.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35579" y="471505"/>
            <a:ext cx="10353397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Алгоритм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Шенкса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(метод больших и маленьких шагов,</a:t>
            </a:r>
            <a:b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3" tooltip="Английский язык"/>
              </a:rPr>
              <a:t>англ.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baby-step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giant-step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5502d1de92c0ed259ce828620ff900e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03873" y="1594884"/>
            <a:ext cx="11023600" cy="387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35579" y="471505"/>
            <a:ext cx="10353397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Алгоритм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Шенкса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(метод больших и маленьких шагов,</a:t>
            </a:r>
            <a:b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3" tooltip="Английский язык"/>
              </a:rPr>
              <a:t>англ.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baby-step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giant-step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815413" y="2264735"/>
            <a:ext cx="106571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Рассмотрим пошагово пример. Пусть число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будет образовано путем умножения двух простых чисел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17 и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23: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*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17*23 = 391. </a:t>
            </a:r>
            <a:endParaRPr lang="en-US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И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пусть число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будет равно 5. </a:t>
            </a:r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35579" y="471505"/>
            <a:ext cx="10353397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Алгоритм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Шенкса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(метод больших и маленьких шагов,</a:t>
            </a:r>
            <a:b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3" tooltip="Английский язык"/>
              </a:rPr>
              <a:t>англ.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baby-step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giant-step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6aca918ee89490a5b0797e20edb3176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45758" y="1403498"/>
            <a:ext cx="7060020" cy="455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35579" y="471505"/>
            <a:ext cx="10353397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Алгоритм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Шенкса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(метод больших и маленьких шагов,</a:t>
            </a:r>
            <a:b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3" tooltip="Английский язык"/>
              </a:rPr>
              <a:t>англ.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baby-step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giant-step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aad898da83a12facce58a1574b52ea0b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9674" y="1626493"/>
            <a:ext cx="1118870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i.gyazo.com/88e1ea75d3e9a76d444b94f31e1c043a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3393" y="3354684"/>
            <a:ext cx="7658100" cy="1076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35579" y="471505"/>
            <a:ext cx="10353397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Алгоритм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Шенкса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(метод больших и маленьких шагов,</a:t>
            </a:r>
            <a:b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3" tooltip="Английский язык"/>
              </a:rPr>
              <a:t>англ.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baby-step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giant-step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6152922573fa5b226adb4e5b9f124f7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1371" y="1844825"/>
            <a:ext cx="10858500" cy="378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ttps://i.gyazo.com/f4645e896c030ae8f27d677b7c50f8f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85408" y="997500"/>
            <a:ext cx="9061711" cy="4920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35579" y="471505"/>
            <a:ext cx="10353397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Алгоритм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Шенкса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(метод больших и маленьких шагов,</a:t>
            </a:r>
            <a:b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4" tooltip="Английский язык"/>
              </a:rPr>
              <a:t>англ.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baby-step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giant-step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ttps://i.gyazo.com/040a5ca835e647660d64030e9157d34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69505" y="1053255"/>
            <a:ext cx="9157927" cy="4896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35579" y="471505"/>
            <a:ext cx="10353397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Алгоритм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Шенкса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(метод больших и маленьких шагов,</a:t>
            </a:r>
            <a:b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4" tooltip="Английский язык"/>
              </a:rPr>
              <a:t>англ.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baby-step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giant-step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35579" y="471505"/>
            <a:ext cx="10353397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Алгоритм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Шенкса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(метод больших и маленьких шагов,</a:t>
            </a:r>
            <a:b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3" tooltip="Английский язык"/>
              </a:rPr>
              <a:t>англ.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baby-step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giant-step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ee6602711868718f0ee69e7b19d57f3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43403" y="1456249"/>
            <a:ext cx="108204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i.gyazo.com/9286743bcfdae6f594e3b83752a0fe8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87742" y="1122950"/>
            <a:ext cx="10701234" cy="481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35579" y="471505"/>
            <a:ext cx="10353397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Алгоритм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Шенкса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(метод больших и маленьких шагов,</a:t>
            </a:r>
            <a:b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4" tooltip="Английский язык"/>
              </a:rPr>
              <a:t>англ.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baby-step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giant-step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35579" y="471505"/>
            <a:ext cx="10353397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Алгоритм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Шенкса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(метод больших и маленьких шагов,</a:t>
            </a:r>
            <a:b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3" tooltip="Английский язык"/>
              </a:rPr>
              <a:t>англ.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baby-step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giant-step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bf7223b469cdd1c47811ec5cfcc4c56c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9349" y="1377013"/>
            <a:ext cx="11521280" cy="1678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i.gyazo.com/3878b08282c2215e739dc0adb910f15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9403" y="3055545"/>
            <a:ext cx="313690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https://i.gyazo.com/85c7ba6e544c32a98a00e75186278738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85912" y="2889183"/>
            <a:ext cx="3267511" cy="2926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https://i.gyazo.com/6b0e00ce907b7310c3e79fc09b32933c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728182" y="2994530"/>
            <a:ext cx="4356100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9673" y="371217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Ферма 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85afc4826345f55a291bd8b98e1aed4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7373" y="798413"/>
            <a:ext cx="10896600" cy="1228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i.gyazo.com/2726004d7a7729b75e698cbef0d24ba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4037" y="2027139"/>
            <a:ext cx="10845800" cy="347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9673" y="692696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Ферма 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952a5ab5249ae0ba3184a4018128697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7382" y="1325329"/>
            <a:ext cx="10807700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9673" y="692696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Ферма 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b55cf9de888d38120498aa8fba72135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03873" y="1628801"/>
            <a:ext cx="11023600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9673" y="471505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Обобщенный Метод Ферма 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4" descr="https://i.gyazo.com/4b82f5a42844d1af1a914a7e1f17839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11425" y="1263593"/>
            <a:ext cx="10883900" cy="463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9673" y="692696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Обобщенный Метод Ферма 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81f4bad3cbf2741dafb2838a366b770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5414" y="1335655"/>
            <a:ext cx="9867900" cy="450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9673" y="471505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Обобщенный Метод Ферма 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d5a498c4ea27ff52ec828572d415231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11424" y="1263593"/>
            <a:ext cx="10795000" cy="462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148350" y="47150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ρ-Метод Полларда (метод «Монте-Карло»)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5" name="Picture 2" descr="https://i.gyazo.com/bf758c3665a3158d9d56692ee7ab761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4037" y="1114463"/>
            <a:ext cx="11506200" cy="46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19673" y="692696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ρ-Метод Полларда (метод «Монте-Карло»)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bf106f859a0118559d9a9eef386fc3f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5361" y="1772816"/>
            <a:ext cx="11061700" cy="317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239349" y="364835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квадратичного решета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16383e48de62b9963336a9af843b108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20819" y="1031365"/>
            <a:ext cx="9593030" cy="492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239349" y="471505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квадратичного решета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51173a90ca63a1dff9e9d83a9aafb04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3393" y="1623633"/>
            <a:ext cx="10883900" cy="395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239349" y="419699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квадратичного решета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51173a90ca63a1dff9e9d83a9aafb04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3393" y="1571827"/>
            <a:ext cx="10883900" cy="395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209925" y="419699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квадратичного решета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5" name="Picture 6" descr="https://i.gyazo.com/45e02db39bbc20a52859f767040954f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9403" y="2540687"/>
            <a:ext cx="8764553" cy="3409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https://i.gyazo.com/22e3afb72620e75ed7d1a847c77b189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53774" y="1253109"/>
            <a:ext cx="9268422" cy="135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ttps://i.gyazo.com/0bd0c18893d2f5311ae88836b13b923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9403" y="829246"/>
            <a:ext cx="10807700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364037" y="419699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квадратичного решета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03990683f260d055b791d6add04bd94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06816" y="1345689"/>
            <a:ext cx="10972800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15" name="Заголовок 1"/>
          <p:cNvSpPr txBox="1">
            <a:spLocks/>
          </p:cNvSpPr>
          <p:nvPr/>
        </p:nvSpPr>
        <p:spPr>
          <a:xfrm>
            <a:off x="209925" y="76639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квадратичного решета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6" name="Picture 2" descr="https://i.gyazo.com/12f39ba09310eabe28e371c4df91896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9926" y="1620377"/>
            <a:ext cx="11010900" cy="85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https://i.gyazo.com/f8ae978fbdcb64dc07170c24d881623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0075" y="2688651"/>
            <a:ext cx="11150600" cy="256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209925" y="60973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квадратичного решета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ee5e12f258ed3f38c6fdd7de03ae1a0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3964" y="1252692"/>
            <a:ext cx="10093023" cy="470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209925" y="76970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квадратичного решета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2127878cd2e964fe7f9351a2f0f220f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3393" y="1839711"/>
            <a:ext cx="10528300" cy="335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i.gyazo.com/918cd63fa9954db3b5ad43ea3ba477a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6994" y="754912"/>
            <a:ext cx="1090930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209925" y="448225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квадратичного решета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" name="Picture 4" descr="https://i.gyazo.com/7c9120cde2a4c0f5810ae595c35da4c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83945" y="2269388"/>
            <a:ext cx="8202585" cy="349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209925" y="471505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квадратичного решета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af6d8c4b8fcc1afe933fb1543d2a395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3393" y="1265274"/>
            <a:ext cx="10883900" cy="2971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209925" y="608463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квадратичного решета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ac30153ca327598c892107ab2c95011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2504" y="1733138"/>
            <a:ext cx="6045200" cy="376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https://i.gyazo.com/1b6bfa4b80c0c772e7cce7f097d94c6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536160" y="4270758"/>
            <a:ext cx="2336800" cy="114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3" y="1230310"/>
            <a:ext cx="12191999" cy="857250"/>
          </a:xfrm>
          <a:prstGeom prst="rect">
            <a:avLst/>
          </a:prstGeom>
        </p:spPr>
        <p:txBody>
          <a:bodyPr>
            <a:normAutofit fontScale="82500" lnSpcReduction="1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Две основные математические проблемы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8" name="Стрелка вниз 7"/>
          <p:cNvSpPr/>
          <p:nvPr/>
        </p:nvSpPr>
        <p:spPr>
          <a:xfrm rot="19466674">
            <a:off x="7737069" y="2092078"/>
            <a:ext cx="576064" cy="11521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вниз 8"/>
          <p:cNvSpPr/>
          <p:nvPr/>
        </p:nvSpPr>
        <p:spPr>
          <a:xfrm rot="1743544">
            <a:off x="4320575" y="2178286"/>
            <a:ext cx="576064" cy="11521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2543605" y="3153988"/>
            <a:ext cx="316835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Задача факторизации</a:t>
            </a:r>
          </a:p>
        </p:txBody>
      </p:sp>
      <p:sp>
        <p:nvSpPr>
          <p:cNvPr id="16" name="Заголовок 1"/>
          <p:cNvSpPr txBox="1">
            <a:spLocks/>
          </p:cNvSpPr>
          <p:nvPr/>
        </p:nvSpPr>
        <p:spPr>
          <a:xfrm>
            <a:off x="7248128" y="3153988"/>
            <a:ext cx="3840427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Задача дискретного логарифмирования</a:t>
            </a:r>
          </a:p>
        </p:txBody>
      </p:sp>
      <p:sp>
        <p:nvSpPr>
          <p:cNvPr id="17" name="Заголовок 1"/>
          <p:cNvSpPr txBox="1">
            <a:spLocks/>
          </p:cNvSpPr>
          <p:nvPr/>
        </p:nvSpPr>
        <p:spPr>
          <a:xfrm>
            <a:off x="2447595" y="3946076"/>
            <a:ext cx="316835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lang="en-US" sz="3600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N=p*q</a:t>
            </a:r>
            <a:endParaRPr lang="ru-RU" sz="3600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7440149" y="3946076"/>
            <a:ext cx="316835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lang="en-US" sz="3600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Y= </a:t>
            </a:r>
            <a:r>
              <a:rPr lang="en-US" sz="3600" dirty="0" err="1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g</a:t>
            </a:r>
            <a:r>
              <a:rPr lang="en-US" sz="3600" baseline="30000" dirty="0" err="1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x</a:t>
            </a:r>
            <a:r>
              <a:rPr lang="en-US" sz="3600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 mod p</a:t>
            </a:r>
            <a:endParaRPr lang="ru-RU" sz="3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ρ-метод Полларда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ba52e8db86b322663c2a85fde1be29e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2196" y="1988840"/>
            <a:ext cx="11446827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ρ-метод Полларда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ab648f2d525f28b3a6a3dd4639b4b73f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11424" y="1268760"/>
            <a:ext cx="10273141" cy="4557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ρ-метод Полларда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4bb925e936edb11da05c4411c0b9b89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87488" y="1484785"/>
            <a:ext cx="9601067" cy="3392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ρ-метод Полларда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1c03f4ca59393f711046163d6db1b9b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83499" y="956301"/>
            <a:ext cx="8092129" cy="4869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ρ-метод Полларда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b9644e7b0c08f27426c770b961d1572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1371" y="1844825"/>
            <a:ext cx="5760640" cy="3555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i.gyazo.com/be16249a47e2648806bad6cf890aea3f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960096" y="1700808"/>
            <a:ext cx="5018331" cy="3447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ρ-метод Полларда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e6d3b3de698a0731b93bc9cd72b242d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7382" y="1772816"/>
            <a:ext cx="5216492" cy="340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i.gyazo.com/68a5280d6c7161c11e09ed110b73b12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03979" y="1628800"/>
            <a:ext cx="5686351" cy="3941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ρ-метод Полларда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7188f9f998cfaf56e5f7ba8cbec471ff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7383" y="1628800"/>
            <a:ext cx="5904541" cy="424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i.gyazo.com/ce289acfa18d388d54d2d972b58860d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894772" y="1412776"/>
            <a:ext cx="6266837" cy="4224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ρ-метод Полларда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f177f2b81a825e345b0160906e6c89b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9403" y="1700808"/>
            <a:ext cx="6093219" cy="3759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i.gyazo.com/e3a501b3e523dfe0e5fe763ece74af6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847475" y="1628801"/>
            <a:ext cx="6344525" cy="4134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ρ-метод Полларда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c13bb99b52b43024e61b81c21ae03f4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5361" y="1556793"/>
            <a:ext cx="5633549" cy="400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i.gyazo.com/fc82a955803ae188ebaf137e41bdedff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807968" y="1412776"/>
            <a:ext cx="6048672" cy="419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ρ-метод Полларда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27283e888aa564ca050df65f5eda511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50014" y="839972"/>
            <a:ext cx="9741763" cy="495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ρ-метод Полларда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a630cfebf9f85f1d856ca2a2af2aae3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35579" y="1047622"/>
            <a:ext cx="9689871" cy="4767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ρ-метод Полларда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b8fb7d5ba09e7a0cdc6d05fc69719d0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5453" y="2355187"/>
            <a:ext cx="12116547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Гельфонда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102db2beade3eb4207469aed025af44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3446" y="2060848"/>
            <a:ext cx="10577796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1656078" cy="54849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Гельфонда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bf7488e5c5d9fdcbff673453faedb2a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3394" y="1114463"/>
            <a:ext cx="10679016" cy="4565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Гельфонда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c884b8d1f5960631cb01302d5ced956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9403" y="1628800"/>
            <a:ext cx="10935448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Гельфонда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5" name="Picture 2" descr="https://i.gyazo.com/3f7b6b7ef315795c9f9d9237a9ccc8d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11425" y="1484783"/>
            <a:ext cx="11025016" cy="390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</a:t>
            </a:r>
            <a:r>
              <a:rPr kumimoji="0" lang="ru-RU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Гельфонда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dd96dee7c405858b893a636f7a2b4c2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90254" y="1047622"/>
            <a:ext cx="8752936" cy="483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Гельфонда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b43f9bed4cfb0869d891df3af05e7cc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79935" y="1005214"/>
            <a:ext cx="6232168" cy="4930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Гельфонда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9c037389c521d6d3eda6b7b752d816a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49253" y="935673"/>
            <a:ext cx="6060832" cy="4957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Гельфонда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1c00180c76b35b596f1ee4c50ebecac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43607" y="908720"/>
            <a:ext cx="6696086" cy="49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Гельфонда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f1dfe04c9ee3b318004b61dc6302beb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27650" y="1047622"/>
            <a:ext cx="6280146" cy="4851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Гельфонда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6f47ea777447f3cd331ed5e53b10efc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33707" y="1114463"/>
            <a:ext cx="6063804" cy="4808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Гельфонда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fc574e19ed7e8589c6207b1d53bb72a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35579" y="1106433"/>
            <a:ext cx="8860564" cy="4876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Гельфонда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2e7caf900ef87a899c8f7e64b8180cf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75521" y="850605"/>
            <a:ext cx="6911279" cy="279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i.gyazo.com/fa4e3bfa7fcf27ab219a4f69109c66a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0358" y="3644118"/>
            <a:ext cx="10465163" cy="2097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базы разложения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dfe86fe293c4114c2b2f5c7fe74b74b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7381" y="1628800"/>
            <a:ext cx="11310327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базы разложения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0342048de933b0b319b4ef5fb6b3dac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02080" y="1340768"/>
            <a:ext cx="9719576" cy="4525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базы разложения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335360" y="1163742"/>
            <a:ext cx="1132925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Рассмотрим пример логарифмирования методом базы разложения. </a:t>
            </a: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kumimoji="0" lang="ru-RU" altLang="ru-RU" sz="24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993121, </a:t>
            </a:r>
            <a:r>
              <a:rPr kumimoji="0" lang="ru-RU" altLang="ru-RU" sz="24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4096, </a:t>
            </a:r>
            <a:r>
              <a:rPr kumimoji="0" lang="en-US" altLang="ru-RU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230611, </a:t>
            </a:r>
            <a:r>
              <a:rPr kumimoji="0" lang="en-US" altLang="ru-RU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2069.</a:t>
            </a: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3" descr="https://i.gyazo.com/cee36ba763f0ce758f0a78d16a1e473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3393" y="2348880"/>
            <a:ext cx="11324753" cy="357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базы разложения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5399f85292254d1013432ad538ac0dff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02080" y="1047622"/>
            <a:ext cx="9424375" cy="4723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базы разложения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8143d34e6ba04e7f31bc7a36381f72c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3393" y="1484784"/>
            <a:ext cx="11063468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31B8B6A8-0B4C-98C1-E5D3-8F394550E786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008B04-0951-C887-CD49-23EFBB2CCD97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6A14116F-E91A-30D2-8354-518B012A1E0B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1F63A9DD-2019-D77F-D9FB-985350377FD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0E559CE4-94E2-7056-D428-D8D94B0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-30391" y="404664"/>
            <a:ext cx="12192000" cy="6429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Метод базы разложения</a:t>
            </a: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2" descr="https://i.gyazo.com/963c438012e8249964b471745c94663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7382" y="1700808"/>
            <a:ext cx="11170021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22960" y="173736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A1B3F"/>
                </a:solidFill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3644267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576683"/>
                </a:solidFill>
              </a:defRPr>
            </a:pPr>
            <a:r>
              <a:rPr dirty="0"/>
              <a:t>Questions?</a:t>
            </a:r>
          </a:p>
          <a:p>
            <a:pPr>
              <a:defRPr sz="2200">
                <a:solidFill>
                  <a:srgbClr val="0A1B3F"/>
                </a:solidFill>
              </a:defRPr>
            </a:pPr>
            <a:r>
              <a:rPr dirty="0"/>
              <a:t>Contact: </a:t>
            </a:r>
            <a:r>
              <a:rPr lang="en" sz="2200" dirty="0" err="1"/>
              <a:t>nn-cybersec@mail.ru</a:t>
            </a:r>
            <a:endParaRPr lang="en" sz="2200"/>
          </a:p>
          <a:p>
            <a:pPr>
              <a:defRPr sz="2200">
                <a:solidFill>
                  <a:srgbClr val="0A1B3F"/>
                </a:solidFill>
              </a:defRPr>
            </a:pPr>
            <a:endParaRPr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xmlns="" id="{ECF6F05C-4B63-2BBF-47EF-F7B9CFB29B56}"/>
              </a:ext>
            </a:extLst>
          </p:cNvPr>
          <p:cNvSpPr/>
          <p:nvPr/>
        </p:nvSpPr>
        <p:spPr>
          <a:xfrm>
            <a:off x="1402080" y="364835"/>
            <a:ext cx="10789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B58A8803-AF82-47EA-8352-D9630D29D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7" y="248094"/>
            <a:ext cx="771542" cy="866369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xmlns="" id="{5E20A568-6344-5D99-3291-9D2E3CB972C8}"/>
              </a:ext>
            </a:extLst>
          </p:cNvPr>
          <p:cNvSpPr/>
          <p:nvPr/>
        </p:nvSpPr>
        <p:spPr>
          <a:xfrm>
            <a:off x="-1" y="6035040"/>
            <a:ext cx="12191695" cy="822960"/>
          </a:xfrm>
          <a:prstGeom prst="rect">
            <a:avLst/>
          </a:prstGeom>
          <a:solidFill>
            <a:srgbClr val="0A5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09F8EF6-99DE-5C3E-E866-FBD150BEF4F9}"/>
              </a:ext>
            </a:extLst>
          </p:cNvPr>
          <p:cNvSpPr txBox="1"/>
          <p:nvPr/>
        </p:nvSpPr>
        <p:spPr>
          <a:xfrm>
            <a:off x="2220364" y="6108633"/>
            <a:ext cx="7263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Young Scientists School «Artificial Intelligence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Cybersecurity»</a:t>
            </a:r>
          </a:p>
          <a:p>
            <a:pPr algn="ctr"/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25–28 November 2025, Stavropol, Russia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xmlns="" id="{D7BCC32A-21BD-4284-B2D3-C6636C9F0F8E}"/>
              </a:ext>
            </a:extLst>
          </p:cNvPr>
          <p:cNvSpPr/>
          <p:nvPr/>
        </p:nvSpPr>
        <p:spPr>
          <a:xfrm>
            <a:off x="-2" y="5982487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2160</Words>
  <Application>Microsoft Macintosh PowerPoint</Application>
  <PresentationFormat>Произвольный</PresentationFormat>
  <Paragraphs>286</Paragraphs>
  <Slides>75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75</vt:i4>
      </vt:variant>
    </vt:vector>
  </HeadingPairs>
  <TitlesOfParts>
    <vt:vector size="76" baseType="lpstr">
      <vt:lpstr>Office Theme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Слайд 29</vt:lpstr>
      <vt:lpstr>Слайд 30</vt:lpstr>
      <vt:lpstr>Слайд 31</vt:lpstr>
      <vt:lpstr>Слайд 32</vt:lpstr>
      <vt:lpstr>Слайд 33</vt:lpstr>
      <vt:lpstr>Слайд 34</vt:lpstr>
      <vt:lpstr>Слайд 35</vt:lpstr>
      <vt:lpstr>Слайд 36</vt:lpstr>
      <vt:lpstr>Слайд 37</vt:lpstr>
      <vt:lpstr>Слайд 38</vt:lpstr>
      <vt:lpstr>Слайд 39</vt:lpstr>
      <vt:lpstr>Слайд 40</vt:lpstr>
      <vt:lpstr>Слайд 41</vt:lpstr>
      <vt:lpstr>Слайд 42</vt:lpstr>
      <vt:lpstr>Слайд 43</vt:lpstr>
      <vt:lpstr>Слайд 44</vt:lpstr>
      <vt:lpstr>Слайд 45</vt:lpstr>
      <vt:lpstr>Слайд 46</vt:lpstr>
      <vt:lpstr>Слайд 47</vt:lpstr>
      <vt:lpstr>Слайд 48</vt:lpstr>
      <vt:lpstr>Слайд 49</vt:lpstr>
      <vt:lpstr>Слайд 50</vt:lpstr>
      <vt:lpstr>Слайд 51</vt:lpstr>
      <vt:lpstr>Слайд 52</vt:lpstr>
      <vt:lpstr>Слайд 53</vt:lpstr>
      <vt:lpstr>Слайд 54</vt:lpstr>
      <vt:lpstr>Слайд 55</vt:lpstr>
      <vt:lpstr>Слайд 56</vt:lpstr>
      <vt:lpstr>Слайд 57</vt:lpstr>
      <vt:lpstr>Слайд 58</vt:lpstr>
      <vt:lpstr>Слайд 59</vt:lpstr>
      <vt:lpstr>Слайд 60</vt:lpstr>
      <vt:lpstr>Слайд 61</vt:lpstr>
      <vt:lpstr>Слайд 62</vt:lpstr>
      <vt:lpstr>Слайд 63</vt:lpstr>
      <vt:lpstr>Слайд 64</vt:lpstr>
      <vt:lpstr>Слайд 65</vt:lpstr>
      <vt:lpstr>Слайд 66</vt:lpstr>
      <vt:lpstr>Слайд 67</vt:lpstr>
      <vt:lpstr>Слайд 68</vt:lpstr>
      <vt:lpstr>Слайд 69</vt:lpstr>
      <vt:lpstr>Слайд 70</vt:lpstr>
      <vt:lpstr>Слайд 71</vt:lpstr>
      <vt:lpstr>Слайд 72</vt:lpstr>
      <vt:lpstr>Слайд 73</vt:lpstr>
      <vt:lpstr>Слайд 74</vt:lpstr>
      <vt:lpstr>Слайд 75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Евгения Ищукова</dc:creator>
  <dc:description>generated using python-pptx</dc:description>
  <cp:lastModifiedBy>Евгения Ищукова</cp:lastModifiedBy>
  <cp:revision>21</cp:revision>
  <dcterms:created xsi:type="dcterms:W3CDTF">2013-01-27T09:14:16Z</dcterms:created>
  <dcterms:modified xsi:type="dcterms:W3CDTF">2025-11-23T22:44:20Z</dcterms:modified>
</cp:coreProperties>
</file>