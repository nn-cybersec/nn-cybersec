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6" r:id="rId3"/>
    <p:sldId id="416" r:id="rId4"/>
    <p:sldId id="418" r:id="rId5"/>
    <p:sldId id="413" r:id="rId6"/>
    <p:sldId id="415" r:id="rId7"/>
    <p:sldId id="414" r:id="rId8"/>
    <p:sldId id="405" r:id="rId9"/>
    <p:sldId id="417" r:id="rId10"/>
    <p:sldId id="419" r:id="rId11"/>
    <p:sldId id="402" r:id="rId12"/>
    <p:sldId id="410" r:id="rId13"/>
    <p:sldId id="269" r:id="rId14"/>
    <p:sldId id="411" r:id="rId15"/>
    <p:sldId id="412" r:id="rId16"/>
    <p:sldId id="420" r:id="rId17"/>
    <p:sldId id="421" r:id="rId18"/>
    <p:sldId id="422" r:id="rId19"/>
    <p:sldId id="423" r:id="rId20"/>
    <p:sldId id="400" r:id="rId21"/>
    <p:sldId id="350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20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934" autoAdjust="0"/>
    <p:restoredTop sz="94660"/>
  </p:normalViewPr>
  <p:slideViewPr>
    <p:cSldViewPr>
      <p:cViewPr varScale="1">
        <p:scale>
          <a:sx n="82" d="100"/>
          <a:sy n="82" d="100"/>
        </p:scale>
        <p:origin x="-1550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ADEFF2-8BCA-457D-BA98-4ECFA8E04E27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7D235AC-02E1-45E3-8B28-6296ED0B5D64}">
      <dgm:prSet/>
      <dgm:spPr/>
      <dgm:t>
        <a:bodyPr/>
        <a:lstStyle/>
        <a:p>
          <a:pPr rtl="0"/>
          <a:r>
            <a:rPr lang="ru-RU" dirty="0" smtClean="0">
              <a:solidFill>
                <a:schemeClr val="bg1"/>
              </a:solidFill>
            </a:rPr>
            <a:t>Система</a:t>
          </a:r>
          <a:endParaRPr lang="ru-RU" dirty="0">
            <a:solidFill>
              <a:schemeClr val="bg1"/>
            </a:solidFill>
          </a:endParaRPr>
        </a:p>
      </dgm:t>
    </dgm:pt>
    <dgm:pt modelId="{F4F84016-0524-4DA6-AC97-535C0D10744E}" type="parTrans" cxnId="{FB0E1EDF-83BF-4B3A-8046-A26E74D19E2A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AA10E1A7-6615-461F-9042-92A8D730AFF7}" type="sibTrans" cxnId="{FB0E1EDF-83BF-4B3A-8046-A26E74D19E2A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2D4ECEEC-8A40-40B6-ADA3-F4F33B64AF8E}">
      <dgm:prSet/>
      <dgm:spPr/>
      <dgm:t>
        <a:bodyPr/>
        <a:lstStyle/>
        <a:p>
          <a:pPr rtl="0"/>
          <a:r>
            <a:rPr lang="ru-RU" dirty="0" smtClean="0">
              <a:solidFill>
                <a:schemeClr val="bg1"/>
              </a:solidFill>
            </a:rPr>
            <a:t>Сеть</a:t>
          </a:r>
          <a:endParaRPr lang="ru-RU" dirty="0">
            <a:solidFill>
              <a:schemeClr val="bg1"/>
            </a:solidFill>
          </a:endParaRPr>
        </a:p>
      </dgm:t>
    </dgm:pt>
    <dgm:pt modelId="{C37D487F-90A5-4E4F-9FD7-552C56BE6787}" type="parTrans" cxnId="{943BDE86-9E56-42EF-A3B7-24D636519943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9462B057-D3A0-4C07-A1CD-E5B65BCE7690}" type="sibTrans" cxnId="{943BDE86-9E56-42EF-A3B7-24D636519943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8A98192A-8336-407C-B20A-C39999A511BC}">
      <dgm:prSet/>
      <dgm:spPr/>
      <dgm:t>
        <a:bodyPr/>
        <a:lstStyle/>
        <a:p>
          <a:pPr rtl="0"/>
          <a:r>
            <a:rPr lang="ru-RU" dirty="0" smtClean="0">
              <a:solidFill>
                <a:schemeClr val="bg1"/>
              </a:solidFill>
            </a:rPr>
            <a:t>Приложения</a:t>
          </a:r>
          <a:endParaRPr lang="ru-RU" dirty="0">
            <a:solidFill>
              <a:schemeClr val="bg1"/>
            </a:solidFill>
          </a:endParaRPr>
        </a:p>
      </dgm:t>
    </dgm:pt>
    <dgm:pt modelId="{CC5DEDF0-EA42-4A36-84B3-FE5FFA9E764C}" type="parTrans" cxnId="{0680B491-4B8B-41D6-9128-9F8D5A362C54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8D5CFA5E-B5F8-4A1D-93E1-FEF5110628A6}" type="sibTrans" cxnId="{0680B491-4B8B-41D6-9128-9F8D5A362C54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BF34211D-C04E-4C9F-928A-0F3C820FDF40}">
      <dgm:prSet/>
      <dgm:spPr/>
      <dgm:t>
        <a:bodyPr/>
        <a:lstStyle/>
        <a:p>
          <a:pPr rtl="0"/>
          <a:r>
            <a:rPr lang="ru-RU" dirty="0" smtClean="0">
              <a:solidFill>
                <a:schemeClr val="bg1"/>
              </a:solidFill>
            </a:rPr>
            <a:t>Данные</a:t>
          </a:r>
          <a:endParaRPr lang="ru-RU" dirty="0">
            <a:solidFill>
              <a:schemeClr val="bg1"/>
            </a:solidFill>
          </a:endParaRPr>
        </a:p>
      </dgm:t>
    </dgm:pt>
    <dgm:pt modelId="{D43FF1FD-A19D-4661-BCDD-01D86A051424}" type="parTrans" cxnId="{F9A5C21E-39D6-41C4-8B76-EA04ABFD08C0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08479CCD-6ACC-4435-8422-F18962A32456}" type="sibTrans" cxnId="{F9A5C21E-39D6-41C4-8B76-EA04ABFD08C0}">
      <dgm:prSet/>
      <dgm:spPr/>
      <dgm:t>
        <a:bodyPr/>
        <a:lstStyle/>
        <a:p>
          <a:endParaRPr lang="ru-RU">
            <a:solidFill>
              <a:schemeClr val="bg1"/>
            </a:solidFill>
          </a:endParaRPr>
        </a:p>
      </dgm:t>
    </dgm:pt>
    <dgm:pt modelId="{8ACEF017-2C6A-442D-A6BC-D33228954DDA}" type="pres">
      <dgm:prSet presAssocID="{29ADEFF2-8BCA-457D-BA98-4ECFA8E04E27}" presName="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3B32C73-5242-435C-9074-E58A5D08FD30}" type="pres">
      <dgm:prSet presAssocID="{07D235AC-02E1-45E3-8B28-6296ED0B5D64}" presName="circle1" presStyleLbl="lnNode1" presStyleIdx="0" presStyleCnt="4"/>
      <dgm:spPr/>
    </dgm:pt>
    <dgm:pt modelId="{7DBE9FF2-444B-4824-872E-5FF3065C2FD2}" type="pres">
      <dgm:prSet presAssocID="{07D235AC-02E1-45E3-8B28-6296ED0B5D64}" presName="text1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79D63B-DF32-4CF3-AF43-4E50EE315C15}" type="pres">
      <dgm:prSet presAssocID="{07D235AC-02E1-45E3-8B28-6296ED0B5D64}" presName="line1" presStyleLbl="callout" presStyleIdx="0" presStyleCnt="8"/>
      <dgm:spPr/>
    </dgm:pt>
    <dgm:pt modelId="{2BFC7247-99E4-4594-9B04-14C80884BB7E}" type="pres">
      <dgm:prSet presAssocID="{07D235AC-02E1-45E3-8B28-6296ED0B5D64}" presName="d1" presStyleLbl="callout" presStyleIdx="1" presStyleCnt="8"/>
      <dgm:spPr/>
    </dgm:pt>
    <dgm:pt modelId="{774A6611-BFF7-4605-9279-96179D1BB61F}" type="pres">
      <dgm:prSet presAssocID="{2D4ECEEC-8A40-40B6-ADA3-F4F33B64AF8E}" presName="circle2" presStyleLbl="lnNode1" presStyleIdx="1" presStyleCnt="4"/>
      <dgm:spPr/>
    </dgm:pt>
    <dgm:pt modelId="{6A87529E-14AD-4B71-909B-D869477F5DD8}" type="pres">
      <dgm:prSet presAssocID="{2D4ECEEC-8A40-40B6-ADA3-F4F33B64AF8E}" presName="text2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402416-22B0-4BDB-8C2E-AE8708722ED6}" type="pres">
      <dgm:prSet presAssocID="{2D4ECEEC-8A40-40B6-ADA3-F4F33B64AF8E}" presName="line2" presStyleLbl="callout" presStyleIdx="2" presStyleCnt="8"/>
      <dgm:spPr/>
    </dgm:pt>
    <dgm:pt modelId="{F8E0F370-1670-454B-AB81-78F86B0E6665}" type="pres">
      <dgm:prSet presAssocID="{2D4ECEEC-8A40-40B6-ADA3-F4F33B64AF8E}" presName="d2" presStyleLbl="callout" presStyleIdx="3" presStyleCnt="8"/>
      <dgm:spPr/>
    </dgm:pt>
    <dgm:pt modelId="{E743D09A-AA27-4FFA-8EA6-8C380AD3E9CB}" type="pres">
      <dgm:prSet presAssocID="{8A98192A-8336-407C-B20A-C39999A511BC}" presName="circle3" presStyleLbl="lnNode1" presStyleIdx="2" presStyleCnt="4"/>
      <dgm:spPr/>
    </dgm:pt>
    <dgm:pt modelId="{A8940770-D1B0-40C7-840C-84212F12B066}" type="pres">
      <dgm:prSet presAssocID="{8A98192A-8336-407C-B20A-C39999A511BC}" presName="text3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19C8CA1-B8B6-4A83-AFA2-32194758831F}" type="pres">
      <dgm:prSet presAssocID="{8A98192A-8336-407C-B20A-C39999A511BC}" presName="line3" presStyleLbl="callout" presStyleIdx="4" presStyleCnt="8"/>
      <dgm:spPr/>
    </dgm:pt>
    <dgm:pt modelId="{B0BE507B-5903-44D8-909B-33C224CF4C60}" type="pres">
      <dgm:prSet presAssocID="{8A98192A-8336-407C-B20A-C39999A511BC}" presName="d3" presStyleLbl="callout" presStyleIdx="5" presStyleCnt="8"/>
      <dgm:spPr/>
    </dgm:pt>
    <dgm:pt modelId="{3E74CA2B-8EEB-4F0F-B1A8-FC19A8D1D0E2}" type="pres">
      <dgm:prSet presAssocID="{BF34211D-C04E-4C9F-928A-0F3C820FDF40}" presName="circle4" presStyleLbl="lnNode1" presStyleIdx="3" presStyleCnt="4"/>
      <dgm:spPr/>
    </dgm:pt>
    <dgm:pt modelId="{408097D2-EFF6-461D-88DE-EE0DC19ABE1E}" type="pres">
      <dgm:prSet presAssocID="{BF34211D-C04E-4C9F-928A-0F3C820FDF40}" presName="text4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069CD57-A7BF-4DEA-9C90-CDD18CB5B8C7}" type="pres">
      <dgm:prSet presAssocID="{BF34211D-C04E-4C9F-928A-0F3C820FDF40}" presName="line4" presStyleLbl="callout" presStyleIdx="6" presStyleCnt="8"/>
      <dgm:spPr/>
    </dgm:pt>
    <dgm:pt modelId="{C11BA0C4-6A9E-4C38-908B-70BCA3F0AAC3}" type="pres">
      <dgm:prSet presAssocID="{BF34211D-C04E-4C9F-928A-0F3C820FDF40}" presName="d4" presStyleLbl="callout" presStyleIdx="7" presStyleCnt="8"/>
      <dgm:spPr/>
    </dgm:pt>
  </dgm:ptLst>
  <dgm:cxnLst>
    <dgm:cxn modelId="{943BDE86-9E56-42EF-A3B7-24D636519943}" srcId="{29ADEFF2-8BCA-457D-BA98-4ECFA8E04E27}" destId="{2D4ECEEC-8A40-40B6-ADA3-F4F33B64AF8E}" srcOrd="1" destOrd="0" parTransId="{C37D487F-90A5-4E4F-9FD7-552C56BE6787}" sibTransId="{9462B057-D3A0-4C07-A1CD-E5B65BCE7690}"/>
    <dgm:cxn modelId="{E2B076F2-5299-430A-80E3-1CCC8C064ED0}" type="presOf" srcId="{2D4ECEEC-8A40-40B6-ADA3-F4F33B64AF8E}" destId="{6A87529E-14AD-4B71-909B-D869477F5DD8}" srcOrd="0" destOrd="0" presId="urn:microsoft.com/office/officeart/2005/8/layout/target1"/>
    <dgm:cxn modelId="{9E01A5D4-4C9A-4B4C-BEB1-47A0B8B24223}" type="presOf" srcId="{BF34211D-C04E-4C9F-928A-0F3C820FDF40}" destId="{408097D2-EFF6-461D-88DE-EE0DC19ABE1E}" srcOrd="0" destOrd="0" presId="urn:microsoft.com/office/officeart/2005/8/layout/target1"/>
    <dgm:cxn modelId="{F9A5C21E-39D6-41C4-8B76-EA04ABFD08C0}" srcId="{29ADEFF2-8BCA-457D-BA98-4ECFA8E04E27}" destId="{BF34211D-C04E-4C9F-928A-0F3C820FDF40}" srcOrd="3" destOrd="0" parTransId="{D43FF1FD-A19D-4661-BCDD-01D86A051424}" sibTransId="{08479CCD-6ACC-4435-8422-F18962A32456}"/>
    <dgm:cxn modelId="{A63D4DB8-C76B-432A-A4A0-8BA366C49B06}" type="presOf" srcId="{8A98192A-8336-407C-B20A-C39999A511BC}" destId="{A8940770-D1B0-40C7-840C-84212F12B066}" srcOrd="0" destOrd="0" presId="urn:microsoft.com/office/officeart/2005/8/layout/target1"/>
    <dgm:cxn modelId="{FB0E1EDF-83BF-4B3A-8046-A26E74D19E2A}" srcId="{29ADEFF2-8BCA-457D-BA98-4ECFA8E04E27}" destId="{07D235AC-02E1-45E3-8B28-6296ED0B5D64}" srcOrd="0" destOrd="0" parTransId="{F4F84016-0524-4DA6-AC97-535C0D10744E}" sibTransId="{AA10E1A7-6615-461F-9042-92A8D730AFF7}"/>
    <dgm:cxn modelId="{65D5801E-B5D4-4E42-9034-C07E6D35C2FF}" type="presOf" srcId="{07D235AC-02E1-45E3-8B28-6296ED0B5D64}" destId="{7DBE9FF2-444B-4824-872E-5FF3065C2FD2}" srcOrd="0" destOrd="0" presId="urn:microsoft.com/office/officeart/2005/8/layout/target1"/>
    <dgm:cxn modelId="{2EB35D1D-4FD7-40BC-8040-CBA6C8F15BCE}" type="presOf" srcId="{29ADEFF2-8BCA-457D-BA98-4ECFA8E04E27}" destId="{8ACEF017-2C6A-442D-A6BC-D33228954DDA}" srcOrd="0" destOrd="0" presId="urn:microsoft.com/office/officeart/2005/8/layout/target1"/>
    <dgm:cxn modelId="{0680B491-4B8B-41D6-9128-9F8D5A362C54}" srcId="{29ADEFF2-8BCA-457D-BA98-4ECFA8E04E27}" destId="{8A98192A-8336-407C-B20A-C39999A511BC}" srcOrd="2" destOrd="0" parTransId="{CC5DEDF0-EA42-4A36-84B3-FE5FFA9E764C}" sibTransId="{8D5CFA5E-B5F8-4A1D-93E1-FEF5110628A6}"/>
    <dgm:cxn modelId="{0D66CF16-9F8C-42D1-9D7F-196FADB1F878}" type="presParOf" srcId="{8ACEF017-2C6A-442D-A6BC-D33228954DDA}" destId="{63B32C73-5242-435C-9074-E58A5D08FD30}" srcOrd="0" destOrd="0" presId="urn:microsoft.com/office/officeart/2005/8/layout/target1"/>
    <dgm:cxn modelId="{CF605835-2C22-4BB1-8F5D-05D9E30CA112}" type="presParOf" srcId="{8ACEF017-2C6A-442D-A6BC-D33228954DDA}" destId="{7DBE9FF2-444B-4824-872E-5FF3065C2FD2}" srcOrd="1" destOrd="0" presId="urn:microsoft.com/office/officeart/2005/8/layout/target1"/>
    <dgm:cxn modelId="{4F87DF49-4584-40EB-85A6-E0CF5FE8BD27}" type="presParOf" srcId="{8ACEF017-2C6A-442D-A6BC-D33228954DDA}" destId="{A979D63B-DF32-4CF3-AF43-4E50EE315C15}" srcOrd="2" destOrd="0" presId="urn:microsoft.com/office/officeart/2005/8/layout/target1"/>
    <dgm:cxn modelId="{3A02AB6C-04A0-4B40-9C79-7B05BCD07CDC}" type="presParOf" srcId="{8ACEF017-2C6A-442D-A6BC-D33228954DDA}" destId="{2BFC7247-99E4-4594-9B04-14C80884BB7E}" srcOrd="3" destOrd="0" presId="urn:microsoft.com/office/officeart/2005/8/layout/target1"/>
    <dgm:cxn modelId="{A2193026-FAFB-4EC1-91D7-A9D2C57CDB88}" type="presParOf" srcId="{8ACEF017-2C6A-442D-A6BC-D33228954DDA}" destId="{774A6611-BFF7-4605-9279-96179D1BB61F}" srcOrd="4" destOrd="0" presId="urn:microsoft.com/office/officeart/2005/8/layout/target1"/>
    <dgm:cxn modelId="{27AB6387-22E8-48C0-AFB8-DC3641DC93C7}" type="presParOf" srcId="{8ACEF017-2C6A-442D-A6BC-D33228954DDA}" destId="{6A87529E-14AD-4B71-909B-D869477F5DD8}" srcOrd="5" destOrd="0" presId="urn:microsoft.com/office/officeart/2005/8/layout/target1"/>
    <dgm:cxn modelId="{E19FCD04-B4E2-4ED2-AD9F-4DCA53788B1C}" type="presParOf" srcId="{8ACEF017-2C6A-442D-A6BC-D33228954DDA}" destId="{28402416-22B0-4BDB-8C2E-AE8708722ED6}" srcOrd="6" destOrd="0" presId="urn:microsoft.com/office/officeart/2005/8/layout/target1"/>
    <dgm:cxn modelId="{103E52F9-63B4-4974-A68F-A027B5002ED2}" type="presParOf" srcId="{8ACEF017-2C6A-442D-A6BC-D33228954DDA}" destId="{F8E0F370-1670-454B-AB81-78F86B0E6665}" srcOrd="7" destOrd="0" presId="urn:microsoft.com/office/officeart/2005/8/layout/target1"/>
    <dgm:cxn modelId="{231A7048-7DA4-4158-8180-D1F2A5BC3553}" type="presParOf" srcId="{8ACEF017-2C6A-442D-A6BC-D33228954DDA}" destId="{E743D09A-AA27-4FFA-8EA6-8C380AD3E9CB}" srcOrd="8" destOrd="0" presId="urn:microsoft.com/office/officeart/2005/8/layout/target1"/>
    <dgm:cxn modelId="{A6181733-44D0-439C-B8B7-00282E509602}" type="presParOf" srcId="{8ACEF017-2C6A-442D-A6BC-D33228954DDA}" destId="{A8940770-D1B0-40C7-840C-84212F12B066}" srcOrd="9" destOrd="0" presId="urn:microsoft.com/office/officeart/2005/8/layout/target1"/>
    <dgm:cxn modelId="{5EF13044-B3D2-41B7-81D2-448A23DF8475}" type="presParOf" srcId="{8ACEF017-2C6A-442D-A6BC-D33228954DDA}" destId="{419C8CA1-B8B6-4A83-AFA2-32194758831F}" srcOrd="10" destOrd="0" presId="urn:microsoft.com/office/officeart/2005/8/layout/target1"/>
    <dgm:cxn modelId="{89A1F836-5C77-4C63-970C-4993D7D3A70D}" type="presParOf" srcId="{8ACEF017-2C6A-442D-A6BC-D33228954DDA}" destId="{B0BE507B-5903-44D8-909B-33C224CF4C60}" srcOrd="11" destOrd="0" presId="urn:microsoft.com/office/officeart/2005/8/layout/target1"/>
    <dgm:cxn modelId="{CF7E515A-9840-4B55-BA05-F6844033F6BC}" type="presParOf" srcId="{8ACEF017-2C6A-442D-A6BC-D33228954DDA}" destId="{3E74CA2B-8EEB-4F0F-B1A8-FC19A8D1D0E2}" srcOrd="12" destOrd="0" presId="urn:microsoft.com/office/officeart/2005/8/layout/target1"/>
    <dgm:cxn modelId="{8B339F20-3C99-4CA1-B698-313E157AD737}" type="presParOf" srcId="{8ACEF017-2C6A-442D-A6BC-D33228954DDA}" destId="{408097D2-EFF6-461D-88DE-EE0DC19ABE1E}" srcOrd="13" destOrd="0" presId="urn:microsoft.com/office/officeart/2005/8/layout/target1"/>
    <dgm:cxn modelId="{1747C633-78DF-48F6-944C-A68ABE702C7A}" type="presParOf" srcId="{8ACEF017-2C6A-442D-A6BC-D33228954DDA}" destId="{F069CD57-A7BF-4DEA-9C90-CDD18CB5B8C7}" srcOrd="14" destOrd="0" presId="urn:microsoft.com/office/officeart/2005/8/layout/target1"/>
    <dgm:cxn modelId="{D719AE4A-BDD4-4349-9E35-C35896E008A3}" type="presParOf" srcId="{8ACEF017-2C6A-442D-A6BC-D33228954DDA}" destId="{C11BA0C4-6A9E-4C38-908B-70BCA3F0AAC3}" srcOrd="15" destOrd="0" presId="urn:microsoft.com/office/officeart/2005/8/layout/target1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18D97A-64F7-4C33-BE13-8CCFAFB48868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2A9C7BF8-1A1E-4B20-A304-B5B8429E699B}">
      <dgm:prSet/>
      <dgm:spPr/>
      <dgm:t>
        <a:bodyPr/>
        <a:lstStyle/>
        <a:p>
          <a:pPr rtl="0"/>
          <a:r>
            <a:rPr lang="ru-RU" dirty="0" smtClean="0"/>
            <a:t>Необходимость</a:t>
          </a:r>
          <a:endParaRPr lang="ru-RU" dirty="0"/>
        </a:p>
      </dgm:t>
    </dgm:pt>
    <dgm:pt modelId="{15832494-C387-446A-9E6B-DA5437450DE0}" type="parTrans" cxnId="{C6929892-F915-43C1-8C5C-B7BAEEA82F28}">
      <dgm:prSet/>
      <dgm:spPr/>
      <dgm:t>
        <a:bodyPr/>
        <a:lstStyle/>
        <a:p>
          <a:endParaRPr lang="ru-RU"/>
        </a:p>
      </dgm:t>
    </dgm:pt>
    <dgm:pt modelId="{45C4420E-D8C4-4A67-8088-B9F7C8355AC8}" type="sibTrans" cxnId="{C6929892-F915-43C1-8C5C-B7BAEEA82F28}">
      <dgm:prSet/>
      <dgm:spPr/>
      <dgm:t>
        <a:bodyPr/>
        <a:lstStyle/>
        <a:p>
          <a:endParaRPr lang="ru-RU"/>
        </a:p>
      </dgm:t>
    </dgm:pt>
    <dgm:pt modelId="{A38D2B4F-5022-4F3A-8974-390568D71569}">
      <dgm:prSet/>
      <dgm:spPr/>
      <dgm:t>
        <a:bodyPr/>
        <a:lstStyle/>
        <a:p>
          <a:pPr rtl="0"/>
          <a:r>
            <a:rPr lang="ru-RU" dirty="0" smtClean="0"/>
            <a:t>Готовность</a:t>
          </a:r>
          <a:endParaRPr lang="ru-RU" dirty="0"/>
        </a:p>
      </dgm:t>
    </dgm:pt>
    <dgm:pt modelId="{05850E90-96E1-48D3-AB11-5604200F4687}" type="parTrans" cxnId="{50621FE3-05C4-4473-B392-E202EA4EA246}">
      <dgm:prSet/>
      <dgm:spPr/>
      <dgm:t>
        <a:bodyPr/>
        <a:lstStyle/>
        <a:p>
          <a:endParaRPr lang="ru-RU"/>
        </a:p>
      </dgm:t>
    </dgm:pt>
    <dgm:pt modelId="{EB839E04-77B1-4A44-A12A-70E19803303B}" type="sibTrans" cxnId="{50621FE3-05C4-4473-B392-E202EA4EA246}">
      <dgm:prSet/>
      <dgm:spPr/>
      <dgm:t>
        <a:bodyPr/>
        <a:lstStyle/>
        <a:p>
          <a:endParaRPr lang="ru-RU"/>
        </a:p>
      </dgm:t>
    </dgm:pt>
    <dgm:pt modelId="{647F952B-27C4-4BE2-BAF4-E78878273CC5}">
      <dgm:prSet/>
      <dgm:spPr>
        <a:solidFill>
          <a:schemeClr val="accent5"/>
        </a:solidFill>
      </dgm:spPr>
      <dgm:t>
        <a:bodyPr/>
        <a:lstStyle/>
        <a:p>
          <a:pPr rtl="0"/>
          <a:r>
            <a:rPr lang="ru-RU" dirty="0" smtClean="0"/>
            <a:t>Связность</a:t>
          </a:r>
          <a:endParaRPr lang="ru-RU" dirty="0"/>
        </a:p>
      </dgm:t>
    </dgm:pt>
    <dgm:pt modelId="{311616D3-C970-4EFC-8367-AB5EAB606AD0}" type="parTrans" cxnId="{3FEB6CA6-C323-4936-AEFE-5D15ACD0107D}">
      <dgm:prSet/>
      <dgm:spPr/>
      <dgm:t>
        <a:bodyPr/>
        <a:lstStyle/>
        <a:p>
          <a:endParaRPr lang="ru-RU"/>
        </a:p>
      </dgm:t>
    </dgm:pt>
    <dgm:pt modelId="{A45A31B7-3F27-4D84-83AA-7D7B3D1C73C0}" type="sibTrans" cxnId="{3FEB6CA6-C323-4936-AEFE-5D15ACD0107D}">
      <dgm:prSet/>
      <dgm:spPr/>
      <dgm:t>
        <a:bodyPr/>
        <a:lstStyle/>
        <a:p>
          <a:endParaRPr lang="ru-RU"/>
        </a:p>
      </dgm:t>
    </dgm:pt>
    <dgm:pt modelId="{83B3FF6E-C21A-482C-8F78-FCDD21817F67}">
      <dgm:prSet/>
      <dgm:spPr>
        <a:solidFill>
          <a:schemeClr val="accent5"/>
        </a:solidFill>
      </dgm:spPr>
      <dgm:t>
        <a:bodyPr/>
        <a:lstStyle/>
        <a:p>
          <a:pPr rtl="0"/>
          <a:r>
            <a:rPr lang="ru-RU" dirty="0" smtClean="0"/>
            <a:t>Комплексность</a:t>
          </a:r>
          <a:endParaRPr lang="ru-RU" dirty="0"/>
        </a:p>
      </dgm:t>
    </dgm:pt>
    <dgm:pt modelId="{BFF77B96-1A4A-42EA-B392-10C4B8C03174}" type="parTrans" cxnId="{D0BE332E-01BB-44F7-8BDA-5189D624768F}">
      <dgm:prSet/>
      <dgm:spPr/>
      <dgm:t>
        <a:bodyPr/>
        <a:lstStyle/>
        <a:p>
          <a:endParaRPr lang="ru-RU"/>
        </a:p>
      </dgm:t>
    </dgm:pt>
    <dgm:pt modelId="{24D5E07A-CC34-471F-9288-7EBE40ECDA73}" type="sibTrans" cxnId="{D0BE332E-01BB-44F7-8BDA-5189D624768F}">
      <dgm:prSet/>
      <dgm:spPr/>
      <dgm:t>
        <a:bodyPr/>
        <a:lstStyle/>
        <a:p>
          <a:endParaRPr lang="ru-RU"/>
        </a:p>
      </dgm:t>
    </dgm:pt>
    <dgm:pt modelId="{9833C6CD-9887-4DEE-AC7F-D5429F5A53AA}">
      <dgm:prSet/>
      <dgm:spPr>
        <a:solidFill>
          <a:srgbClr val="92D050"/>
        </a:solidFill>
      </dgm:spPr>
      <dgm:t>
        <a:bodyPr/>
        <a:lstStyle/>
        <a:p>
          <a:pPr rtl="0"/>
          <a:r>
            <a:rPr lang="ru-RU" dirty="0" smtClean="0"/>
            <a:t>Непрерывность</a:t>
          </a:r>
          <a:endParaRPr lang="ru-RU" dirty="0"/>
        </a:p>
      </dgm:t>
    </dgm:pt>
    <dgm:pt modelId="{06D56F06-CDCD-4059-BA21-88187B29D0F3}" type="parTrans" cxnId="{28C5E020-EC93-4C3E-A69A-51C048911892}">
      <dgm:prSet/>
      <dgm:spPr/>
      <dgm:t>
        <a:bodyPr/>
        <a:lstStyle/>
        <a:p>
          <a:endParaRPr lang="ru-RU"/>
        </a:p>
      </dgm:t>
    </dgm:pt>
    <dgm:pt modelId="{FAFC4068-3AF1-44C8-9C68-7CEB9479129A}" type="sibTrans" cxnId="{28C5E020-EC93-4C3E-A69A-51C048911892}">
      <dgm:prSet/>
      <dgm:spPr/>
      <dgm:t>
        <a:bodyPr/>
        <a:lstStyle/>
        <a:p>
          <a:endParaRPr lang="ru-RU"/>
        </a:p>
      </dgm:t>
    </dgm:pt>
    <dgm:pt modelId="{66A92A4C-129A-4F30-A93F-9C436E3F5158}" type="pres">
      <dgm:prSet presAssocID="{5E18D97A-64F7-4C33-BE13-8CCFAFB48868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CD14BF-DB7B-4D70-9B8C-FA4365488C61}" type="pres">
      <dgm:prSet presAssocID="{5E18D97A-64F7-4C33-BE13-8CCFAFB48868}" presName="arrow" presStyleLbl="bgShp" presStyleIdx="0" presStyleCnt="1"/>
      <dgm:spPr/>
      <dgm:t>
        <a:bodyPr/>
        <a:lstStyle/>
        <a:p>
          <a:endParaRPr lang="ru-RU"/>
        </a:p>
      </dgm:t>
    </dgm:pt>
    <dgm:pt modelId="{BCA8D333-8A2D-4880-BD0F-2380ED3BE599}" type="pres">
      <dgm:prSet presAssocID="{5E18D97A-64F7-4C33-BE13-8CCFAFB48868}" presName="linearProcess" presStyleCnt="0"/>
      <dgm:spPr/>
    </dgm:pt>
    <dgm:pt modelId="{CB367CA0-06FE-44E5-9996-C519A1072308}" type="pres">
      <dgm:prSet presAssocID="{2A9C7BF8-1A1E-4B20-A304-B5B8429E699B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F11C2B3-A8AE-47E8-961C-6B448BB6C1F2}" type="pres">
      <dgm:prSet presAssocID="{45C4420E-D8C4-4A67-8088-B9F7C8355AC8}" presName="sibTrans" presStyleCnt="0"/>
      <dgm:spPr/>
    </dgm:pt>
    <dgm:pt modelId="{4F0B03D2-993C-44BA-87C9-57E2E3F0E30D}" type="pres">
      <dgm:prSet presAssocID="{A38D2B4F-5022-4F3A-8974-390568D71569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F5EEDB-286A-4678-B661-F5EF0E999FBC}" type="pres">
      <dgm:prSet presAssocID="{EB839E04-77B1-4A44-A12A-70E19803303B}" presName="sibTrans" presStyleCnt="0"/>
      <dgm:spPr/>
    </dgm:pt>
    <dgm:pt modelId="{59C4C74B-8B26-4304-A050-9131126913E1}" type="pres">
      <dgm:prSet presAssocID="{647F952B-27C4-4BE2-BAF4-E78878273CC5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E8FC69D-4E1B-4EF6-92FC-9AFF9610FB5B}" type="pres">
      <dgm:prSet presAssocID="{A45A31B7-3F27-4D84-83AA-7D7B3D1C73C0}" presName="sibTrans" presStyleCnt="0"/>
      <dgm:spPr/>
    </dgm:pt>
    <dgm:pt modelId="{1012F0BA-071A-4BBB-928A-9B23C4174F65}" type="pres">
      <dgm:prSet presAssocID="{83B3FF6E-C21A-482C-8F78-FCDD21817F67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22F29B6-3652-4DC0-966C-D5D5735F0430}" type="pres">
      <dgm:prSet presAssocID="{24D5E07A-CC34-471F-9288-7EBE40ECDA73}" presName="sibTrans" presStyleCnt="0"/>
      <dgm:spPr/>
    </dgm:pt>
    <dgm:pt modelId="{E8D2D3C8-AFAC-47F6-A39E-3D3243B87AE5}" type="pres">
      <dgm:prSet presAssocID="{9833C6CD-9887-4DEE-AC7F-D5429F5A53AA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66A69B4-A3EA-4849-8DD4-486F610CBA1B}" type="presOf" srcId="{5E18D97A-64F7-4C33-BE13-8CCFAFB48868}" destId="{66A92A4C-129A-4F30-A93F-9C436E3F5158}" srcOrd="0" destOrd="0" presId="urn:microsoft.com/office/officeart/2005/8/layout/hProcess9"/>
    <dgm:cxn modelId="{50621FE3-05C4-4473-B392-E202EA4EA246}" srcId="{5E18D97A-64F7-4C33-BE13-8CCFAFB48868}" destId="{A38D2B4F-5022-4F3A-8974-390568D71569}" srcOrd="1" destOrd="0" parTransId="{05850E90-96E1-48D3-AB11-5604200F4687}" sibTransId="{EB839E04-77B1-4A44-A12A-70E19803303B}"/>
    <dgm:cxn modelId="{D0BE332E-01BB-44F7-8BDA-5189D624768F}" srcId="{5E18D97A-64F7-4C33-BE13-8CCFAFB48868}" destId="{83B3FF6E-C21A-482C-8F78-FCDD21817F67}" srcOrd="3" destOrd="0" parTransId="{BFF77B96-1A4A-42EA-B392-10C4B8C03174}" sibTransId="{24D5E07A-CC34-471F-9288-7EBE40ECDA73}"/>
    <dgm:cxn modelId="{3FEB6CA6-C323-4936-AEFE-5D15ACD0107D}" srcId="{5E18D97A-64F7-4C33-BE13-8CCFAFB48868}" destId="{647F952B-27C4-4BE2-BAF4-E78878273CC5}" srcOrd="2" destOrd="0" parTransId="{311616D3-C970-4EFC-8367-AB5EAB606AD0}" sibTransId="{A45A31B7-3F27-4D84-83AA-7D7B3D1C73C0}"/>
    <dgm:cxn modelId="{3A1CE6ED-FD92-4A34-BD2B-F3BADF342BAF}" type="presOf" srcId="{83B3FF6E-C21A-482C-8F78-FCDD21817F67}" destId="{1012F0BA-071A-4BBB-928A-9B23C4174F65}" srcOrd="0" destOrd="0" presId="urn:microsoft.com/office/officeart/2005/8/layout/hProcess9"/>
    <dgm:cxn modelId="{D38046C4-1AEE-4702-BE11-D1CB2D966776}" type="presOf" srcId="{647F952B-27C4-4BE2-BAF4-E78878273CC5}" destId="{59C4C74B-8B26-4304-A050-9131126913E1}" srcOrd="0" destOrd="0" presId="urn:microsoft.com/office/officeart/2005/8/layout/hProcess9"/>
    <dgm:cxn modelId="{615DA4A0-9BC5-46DF-A74F-BCFFEEBBECCA}" type="presOf" srcId="{2A9C7BF8-1A1E-4B20-A304-B5B8429E699B}" destId="{CB367CA0-06FE-44E5-9996-C519A1072308}" srcOrd="0" destOrd="0" presId="urn:microsoft.com/office/officeart/2005/8/layout/hProcess9"/>
    <dgm:cxn modelId="{28C5E020-EC93-4C3E-A69A-51C048911892}" srcId="{5E18D97A-64F7-4C33-BE13-8CCFAFB48868}" destId="{9833C6CD-9887-4DEE-AC7F-D5429F5A53AA}" srcOrd="4" destOrd="0" parTransId="{06D56F06-CDCD-4059-BA21-88187B29D0F3}" sibTransId="{FAFC4068-3AF1-44C8-9C68-7CEB9479129A}"/>
    <dgm:cxn modelId="{C6929892-F915-43C1-8C5C-B7BAEEA82F28}" srcId="{5E18D97A-64F7-4C33-BE13-8CCFAFB48868}" destId="{2A9C7BF8-1A1E-4B20-A304-B5B8429E699B}" srcOrd="0" destOrd="0" parTransId="{15832494-C387-446A-9E6B-DA5437450DE0}" sibTransId="{45C4420E-D8C4-4A67-8088-B9F7C8355AC8}"/>
    <dgm:cxn modelId="{52DC7183-4A7D-4B7D-B442-4B015F18135D}" type="presOf" srcId="{A38D2B4F-5022-4F3A-8974-390568D71569}" destId="{4F0B03D2-993C-44BA-87C9-57E2E3F0E30D}" srcOrd="0" destOrd="0" presId="urn:microsoft.com/office/officeart/2005/8/layout/hProcess9"/>
    <dgm:cxn modelId="{8C915891-A0F8-46E5-8E90-721325C607AA}" type="presOf" srcId="{9833C6CD-9887-4DEE-AC7F-D5429F5A53AA}" destId="{E8D2D3C8-AFAC-47F6-A39E-3D3243B87AE5}" srcOrd="0" destOrd="0" presId="urn:microsoft.com/office/officeart/2005/8/layout/hProcess9"/>
    <dgm:cxn modelId="{1F93C27D-8262-4F16-A299-F452E004C7FE}" type="presParOf" srcId="{66A92A4C-129A-4F30-A93F-9C436E3F5158}" destId="{69CD14BF-DB7B-4D70-9B8C-FA4365488C61}" srcOrd="0" destOrd="0" presId="urn:microsoft.com/office/officeart/2005/8/layout/hProcess9"/>
    <dgm:cxn modelId="{71FA4249-E9BB-4D86-BCCF-BEE297257B2A}" type="presParOf" srcId="{66A92A4C-129A-4F30-A93F-9C436E3F5158}" destId="{BCA8D333-8A2D-4880-BD0F-2380ED3BE599}" srcOrd="1" destOrd="0" presId="urn:microsoft.com/office/officeart/2005/8/layout/hProcess9"/>
    <dgm:cxn modelId="{249B0725-810E-4025-8F11-82226248CA28}" type="presParOf" srcId="{BCA8D333-8A2D-4880-BD0F-2380ED3BE599}" destId="{CB367CA0-06FE-44E5-9996-C519A1072308}" srcOrd="0" destOrd="0" presId="urn:microsoft.com/office/officeart/2005/8/layout/hProcess9"/>
    <dgm:cxn modelId="{B8FB53E6-E49F-465D-B109-7CDB9533DEEC}" type="presParOf" srcId="{BCA8D333-8A2D-4880-BD0F-2380ED3BE599}" destId="{DF11C2B3-A8AE-47E8-961C-6B448BB6C1F2}" srcOrd="1" destOrd="0" presId="urn:microsoft.com/office/officeart/2005/8/layout/hProcess9"/>
    <dgm:cxn modelId="{936F8359-6B09-4AC7-8F57-FEB4C85FA8C4}" type="presParOf" srcId="{BCA8D333-8A2D-4880-BD0F-2380ED3BE599}" destId="{4F0B03D2-993C-44BA-87C9-57E2E3F0E30D}" srcOrd="2" destOrd="0" presId="urn:microsoft.com/office/officeart/2005/8/layout/hProcess9"/>
    <dgm:cxn modelId="{DEB5C8FB-BE69-4768-BF30-8520F5FB2F4F}" type="presParOf" srcId="{BCA8D333-8A2D-4880-BD0F-2380ED3BE599}" destId="{F1F5EEDB-286A-4678-B661-F5EF0E999FBC}" srcOrd="3" destOrd="0" presId="urn:microsoft.com/office/officeart/2005/8/layout/hProcess9"/>
    <dgm:cxn modelId="{6BDA5871-F07B-42EC-92B9-B63C23F33CB3}" type="presParOf" srcId="{BCA8D333-8A2D-4880-BD0F-2380ED3BE599}" destId="{59C4C74B-8B26-4304-A050-9131126913E1}" srcOrd="4" destOrd="0" presId="urn:microsoft.com/office/officeart/2005/8/layout/hProcess9"/>
    <dgm:cxn modelId="{6782D43B-8C0E-4D2B-B993-EBBC7AA2BC63}" type="presParOf" srcId="{BCA8D333-8A2D-4880-BD0F-2380ED3BE599}" destId="{9E8FC69D-4E1B-4EF6-92FC-9AFF9610FB5B}" srcOrd="5" destOrd="0" presId="urn:microsoft.com/office/officeart/2005/8/layout/hProcess9"/>
    <dgm:cxn modelId="{663EBB95-42CA-40E4-8244-93144334114E}" type="presParOf" srcId="{BCA8D333-8A2D-4880-BD0F-2380ED3BE599}" destId="{1012F0BA-071A-4BBB-928A-9B23C4174F65}" srcOrd="6" destOrd="0" presId="urn:microsoft.com/office/officeart/2005/8/layout/hProcess9"/>
    <dgm:cxn modelId="{060BC373-5C39-4E83-B7B2-AEAB4C422073}" type="presParOf" srcId="{BCA8D333-8A2D-4880-BD0F-2380ED3BE599}" destId="{B22F29B6-3652-4DC0-966C-D5D5735F0430}" srcOrd="7" destOrd="0" presId="urn:microsoft.com/office/officeart/2005/8/layout/hProcess9"/>
    <dgm:cxn modelId="{9461728A-04CB-4973-AF9A-72C50BFC55B1}" type="presParOf" srcId="{BCA8D333-8A2D-4880-BD0F-2380ED3BE599}" destId="{E8D2D3C8-AFAC-47F6-A39E-3D3243B87AE5}" srcOrd="8" destOrd="0" presId="urn:microsoft.com/office/officeart/2005/8/layout/hProcess9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BFC9A-25BD-4D99-AB94-DB5F439F8683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28F88F-1904-4493-965F-E67F6057B7F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173568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4886CF-531C-4A00-9AB9-068ECF1CB83D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8F88F-1904-4493-965F-E67F6057B7F9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4293719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8F88F-1904-4493-965F-E67F6057B7F9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19017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pPr/>
              <a:t>25.11.2025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700808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b="1" dirty="0" err="1" smtClean="0">
                <a:solidFill>
                  <a:schemeClr val="bg1"/>
                </a:solidFill>
              </a:rPr>
              <a:t>ИБ-вызовы</a:t>
            </a:r>
            <a:r>
              <a:rPr lang="ru-RU" b="1" dirty="0" smtClean="0">
                <a:solidFill>
                  <a:schemeClr val="bg1"/>
                </a:solidFill>
              </a:rPr>
              <a:t> при цифровой трансформации и использовании ИИ в бизнес-процессах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55576" y="3573017"/>
            <a:ext cx="8064896" cy="2159690"/>
          </a:xfrm>
        </p:spPr>
        <p:txBody>
          <a:bodyPr>
            <a:noAutofit/>
          </a:bodyPr>
          <a:lstStyle/>
          <a:p>
            <a:r>
              <a:rPr lang="ru-RU" sz="2000" dirty="0" smtClean="0">
                <a:solidFill>
                  <a:schemeClr val="bg1"/>
                </a:solidFill>
              </a:rPr>
              <a:t>Вячеслав Золотарев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Сибирский государственный университет науки и технологий имени академика М.Ф. </a:t>
            </a:r>
            <a:r>
              <a:rPr lang="ru-RU" sz="2000" dirty="0" err="1" smtClean="0">
                <a:solidFill>
                  <a:schemeClr val="bg1"/>
                </a:solidFill>
              </a:rPr>
              <a:t>Решетнева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Красноярск, </a:t>
            </a:r>
            <a:r>
              <a:rPr lang="ru-RU" sz="2000" dirty="0" smtClean="0">
                <a:solidFill>
                  <a:schemeClr val="bg1"/>
                </a:solidFill>
              </a:rPr>
              <a:t>Россия</a:t>
            </a:r>
            <a:endParaRPr lang="en-US" sz="2000" dirty="0" smtClean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amida.2@yandex.ru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1403648" y="6165303"/>
            <a:ext cx="6728792" cy="471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chemeClr val="bg1"/>
                </a:solidFill>
              </a:rPr>
              <a:t>Красноярск</a:t>
            </a:r>
            <a:r>
              <a:rPr lang="en-US" sz="2400" dirty="0" smtClean="0">
                <a:solidFill>
                  <a:schemeClr val="bg1"/>
                </a:solidFill>
              </a:rPr>
              <a:t>, 202</a:t>
            </a:r>
            <a:r>
              <a:rPr lang="ru-RU" sz="2400" dirty="0" smtClean="0">
                <a:solidFill>
                  <a:schemeClr val="bg1"/>
                </a:solidFill>
              </a:rPr>
              <a:t>5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1897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Основные причины </a:t>
            </a:r>
            <a:r>
              <a:rPr lang="ru-RU" dirty="0" err="1" smtClean="0">
                <a:solidFill>
                  <a:schemeClr val="bg1"/>
                </a:solidFill>
              </a:rPr>
              <a:t>ИБ-проблем</a:t>
            </a:r>
            <a:r>
              <a:rPr lang="ru-RU" dirty="0" smtClean="0">
                <a:solidFill>
                  <a:schemeClr val="bg1"/>
                </a:solidFill>
              </a:rPr>
              <a:t> при ЦТ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9201"/>
              </a:buClr>
            </a:pPr>
            <a:r>
              <a:rPr lang="ru-RU" dirty="0" smtClean="0">
                <a:solidFill>
                  <a:schemeClr val="bg1"/>
                </a:solidFill>
              </a:rPr>
              <a:t>Нет учета критичных систем (активов)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Clr>
                <a:srgbClr val="FF9201"/>
              </a:buClr>
            </a:pPr>
            <a:r>
              <a:rPr lang="ru-RU" dirty="0" smtClean="0">
                <a:solidFill>
                  <a:schemeClr val="bg1"/>
                </a:solidFill>
              </a:rPr>
              <a:t>Нет учета данных как объекта защиты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Clr>
                <a:srgbClr val="FF9201"/>
              </a:buClr>
            </a:pPr>
            <a:r>
              <a:rPr lang="ru-RU" dirty="0" smtClean="0">
                <a:solidFill>
                  <a:schemeClr val="bg1"/>
                </a:solidFill>
              </a:rPr>
              <a:t>Неполное отображение взаимосвязей</a:t>
            </a:r>
            <a:endParaRPr lang="en-US" dirty="0" smtClean="0">
              <a:solidFill>
                <a:schemeClr val="bg1"/>
              </a:solidFill>
            </a:endParaRPr>
          </a:p>
          <a:p>
            <a:pPr>
              <a:buClr>
                <a:srgbClr val="FF9201"/>
              </a:buClr>
            </a:pPr>
            <a:r>
              <a:rPr lang="ru-RU" dirty="0" smtClean="0">
                <a:solidFill>
                  <a:schemeClr val="bg1"/>
                </a:solidFill>
              </a:rPr>
              <a:t>Организационные </a:t>
            </a:r>
            <a:r>
              <a:rPr lang="ru-RU" dirty="0" smtClean="0">
                <a:solidFill>
                  <a:schemeClr val="bg1"/>
                </a:solidFill>
              </a:rPr>
              <a:t>проблемы и </a:t>
            </a:r>
            <a:r>
              <a:rPr lang="ru-RU" dirty="0" smtClean="0">
                <a:solidFill>
                  <a:schemeClr val="bg1"/>
                </a:solidFill>
              </a:rPr>
              <a:t>уязвимости процессов</a:t>
            </a:r>
            <a:endParaRPr lang="en-US" dirty="0" smtClean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Уровни </a:t>
            </a:r>
            <a:r>
              <a:rPr lang="ru-RU" dirty="0" err="1" smtClean="0">
                <a:solidFill>
                  <a:schemeClr val="bg1"/>
                </a:solidFill>
              </a:rPr>
              <a:t>ИБ-проблем</a:t>
            </a:r>
            <a:r>
              <a:rPr lang="ru-RU" dirty="0" smtClean="0">
                <a:solidFill>
                  <a:schemeClr val="bg1"/>
                </a:solidFill>
              </a:rPr>
              <a:t>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8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073" name="Group 1"/>
          <p:cNvGrpSpPr>
            <a:grpSpLocks/>
          </p:cNvGrpSpPr>
          <p:nvPr/>
        </p:nvGrpSpPr>
        <p:grpSpPr bwMode="auto">
          <a:xfrm>
            <a:off x="285720" y="1357298"/>
            <a:ext cx="8572560" cy="5214974"/>
            <a:chOff x="1532" y="7892"/>
            <a:chExt cx="8733" cy="5587"/>
          </a:xfrm>
        </p:grpSpPr>
        <p:sp>
          <p:nvSpPr>
            <p:cNvPr id="3097" name="AutoShape 25"/>
            <p:cNvSpPr>
              <a:spLocks noChangeAspect="1" noChangeArrowheads="1"/>
            </p:cNvSpPr>
            <p:nvPr/>
          </p:nvSpPr>
          <p:spPr bwMode="auto">
            <a:xfrm>
              <a:off x="1532" y="7892"/>
              <a:ext cx="8733" cy="558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96" name="Rectangle 24"/>
            <p:cNvSpPr>
              <a:spLocks noChangeArrowheads="1"/>
            </p:cNvSpPr>
            <p:nvPr/>
          </p:nvSpPr>
          <p:spPr bwMode="auto">
            <a:xfrm>
              <a:off x="4930" y="8053"/>
              <a:ext cx="5195" cy="37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95" name="Rectangle 23"/>
            <p:cNvSpPr>
              <a:spLocks noChangeArrowheads="1"/>
            </p:cNvSpPr>
            <p:nvPr/>
          </p:nvSpPr>
          <p:spPr bwMode="auto">
            <a:xfrm>
              <a:off x="1635" y="11940"/>
              <a:ext cx="8490" cy="1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94" name="Rectangle 74"/>
            <p:cNvSpPr>
              <a:spLocks noChangeArrowheads="1"/>
            </p:cNvSpPr>
            <p:nvPr/>
          </p:nvSpPr>
          <p:spPr bwMode="auto">
            <a:xfrm>
              <a:off x="3693" y="12113"/>
              <a:ext cx="4845" cy="3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Поддерживающие процессы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3" name="Rectangle 81"/>
            <p:cNvSpPr>
              <a:spLocks noChangeArrowheads="1"/>
            </p:cNvSpPr>
            <p:nvPr/>
          </p:nvSpPr>
          <p:spPr bwMode="auto">
            <a:xfrm>
              <a:off x="1785" y="12707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записями и документами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2" name="Rectangle 81"/>
            <p:cNvSpPr>
              <a:spLocks noChangeArrowheads="1"/>
            </p:cNvSpPr>
            <p:nvPr/>
          </p:nvSpPr>
          <p:spPr bwMode="auto">
            <a:xfrm>
              <a:off x="4872" y="12692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ресурсами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1" name="Rectangle 81"/>
            <p:cNvSpPr>
              <a:spLocks noChangeArrowheads="1"/>
            </p:cNvSpPr>
            <p:nvPr/>
          </p:nvSpPr>
          <p:spPr bwMode="auto">
            <a:xfrm>
              <a:off x="7648" y="12707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коммуникациями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90" name="Rectangle 74"/>
            <p:cNvSpPr>
              <a:spLocks noChangeArrowheads="1"/>
            </p:cNvSpPr>
            <p:nvPr/>
          </p:nvSpPr>
          <p:spPr bwMode="auto">
            <a:xfrm>
              <a:off x="5016" y="11338"/>
              <a:ext cx="5014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Процессы управления ИБ для уровня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9" name="Rectangle 17"/>
            <p:cNvSpPr>
              <a:spLocks noChangeArrowheads="1"/>
            </p:cNvSpPr>
            <p:nvPr/>
          </p:nvSpPr>
          <p:spPr bwMode="auto">
            <a:xfrm>
              <a:off x="1635" y="8053"/>
              <a:ext cx="3136" cy="379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88" name="Rectangle 74"/>
            <p:cNvSpPr>
              <a:spLocks noChangeArrowheads="1"/>
            </p:cNvSpPr>
            <p:nvPr/>
          </p:nvSpPr>
          <p:spPr bwMode="auto">
            <a:xfrm>
              <a:off x="2274" y="11338"/>
              <a:ext cx="2419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Уровни управления ИБ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7" name="Rectangle 74"/>
            <p:cNvSpPr>
              <a:spLocks noChangeArrowheads="1"/>
            </p:cNvSpPr>
            <p:nvPr/>
          </p:nvSpPr>
          <p:spPr bwMode="auto">
            <a:xfrm>
              <a:off x="2131" y="8332"/>
              <a:ext cx="2037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знаний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6" name="Rectangle 74"/>
            <p:cNvSpPr>
              <a:spLocks noChangeArrowheads="1"/>
            </p:cNvSpPr>
            <p:nvPr/>
          </p:nvSpPr>
          <p:spPr bwMode="auto">
            <a:xfrm>
              <a:off x="2131" y="10552"/>
              <a:ext cx="2037" cy="6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инфраструктуры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5" name="Rectangle 74"/>
            <p:cNvSpPr>
              <a:spLocks noChangeArrowheads="1"/>
            </p:cNvSpPr>
            <p:nvPr/>
          </p:nvSpPr>
          <p:spPr bwMode="auto">
            <a:xfrm>
              <a:off x="2131" y="9794"/>
              <a:ext cx="2037" cy="5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организации процессов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4" name="Rectangle 74"/>
            <p:cNvSpPr>
              <a:spLocks noChangeArrowheads="1"/>
            </p:cNvSpPr>
            <p:nvPr/>
          </p:nvSpPr>
          <p:spPr bwMode="auto">
            <a:xfrm>
              <a:off x="2131" y="9036"/>
              <a:ext cx="2037" cy="562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83" name="AutoShape 11"/>
            <p:cNvSpPr>
              <a:spLocks noChangeShapeType="1"/>
            </p:cNvSpPr>
            <p:nvPr/>
          </p:nvSpPr>
          <p:spPr bwMode="auto">
            <a:xfrm rot="10800000" flipH="1" flipV="1">
              <a:off x="3693" y="12304"/>
              <a:ext cx="1" cy="1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82" name="AutoShape 10"/>
            <p:cNvSpPr>
              <a:spLocks noChangeShapeType="1"/>
            </p:cNvSpPr>
            <p:nvPr/>
          </p:nvSpPr>
          <p:spPr bwMode="auto">
            <a:xfrm rot="10800000" flipH="1" flipV="1">
              <a:off x="3693" y="12304"/>
              <a:ext cx="1" cy="1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81" name="AutoShape 9"/>
            <p:cNvSpPr>
              <a:spLocks noChangeShapeType="1"/>
            </p:cNvSpPr>
            <p:nvPr/>
          </p:nvSpPr>
          <p:spPr bwMode="auto">
            <a:xfrm rot="10800000" flipH="1" flipV="1">
              <a:off x="3693" y="12304"/>
              <a:ext cx="1" cy="1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80" name="AutoShape 8"/>
            <p:cNvSpPr>
              <a:spLocks noChangeShapeType="1"/>
            </p:cNvSpPr>
            <p:nvPr/>
          </p:nvSpPr>
          <p:spPr bwMode="auto">
            <a:xfrm>
              <a:off x="8538" y="12304"/>
              <a:ext cx="1" cy="1"/>
            </a:xfrm>
            <a:prstGeom prst="curvedConnector3">
              <a:avLst>
                <a:gd name="adj1" fmla="val 359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79" name="AutoShape 7"/>
            <p:cNvSpPr>
              <a:spLocks noChangeShapeType="1"/>
            </p:cNvSpPr>
            <p:nvPr/>
          </p:nvSpPr>
          <p:spPr bwMode="auto">
            <a:xfrm>
              <a:off x="8538" y="12304"/>
              <a:ext cx="1" cy="1"/>
            </a:xfrm>
            <a:prstGeom prst="curvedConnector3">
              <a:avLst>
                <a:gd name="adj1" fmla="val 359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78" name="AutoShape 6"/>
            <p:cNvSpPr>
              <a:spLocks noChangeShapeType="1"/>
            </p:cNvSpPr>
            <p:nvPr/>
          </p:nvSpPr>
          <p:spPr bwMode="auto">
            <a:xfrm>
              <a:off x="8538" y="12304"/>
              <a:ext cx="1" cy="1"/>
            </a:xfrm>
            <a:prstGeom prst="curvedConnector3">
              <a:avLst>
                <a:gd name="adj1" fmla="val 359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077" name="Rectangle 81"/>
            <p:cNvSpPr>
              <a:spLocks noChangeArrowheads="1"/>
            </p:cNvSpPr>
            <p:nvPr/>
          </p:nvSpPr>
          <p:spPr bwMode="auto">
            <a:xfrm>
              <a:off x="5016" y="8653"/>
              <a:ext cx="2395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Сбор данных: создание безопасных алгоритмов и подходов безопасного сбора и анализа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6" name="Rectangle 81"/>
            <p:cNvSpPr>
              <a:spLocks noChangeArrowheads="1"/>
            </p:cNvSpPr>
            <p:nvPr/>
          </p:nvSpPr>
          <p:spPr bwMode="auto">
            <a:xfrm>
              <a:off x="5016" y="9794"/>
              <a:ext cx="2395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Верификация данных: создание безопасных алгоритмов и подходов подтверждения и верификации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5" name="Rectangle 81"/>
            <p:cNvSpPr>
              <a:spLocks noChangeArrowheads="1"/>
            </p:cNvSpPr>
            <p:nvPr/>
          </p:nvSpPr>
          <p:spPr bwMode="auto">
            <a:xfrm>
              <a:off x="7584" y="8653"/>
              <a:ext cx="2446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Валидация данных: создание безопасных алгоритмов и подходов работы с данными агрегированных баз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74" name="Rectangle 81"/>
            <p:cNvSpPr>
              <a:spLocks noChangeArrowheads="1"/>
            </p:cNvSpPr>
            <p:nvPr/>
          </p:nvSpPr>
          <p:spPr bwMode="auto">
            <a:xfrm>
              <a:off x="7584" y="9794"/>
              <a:ext cx="2446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Использование данных: создание безопасных алгоритмов и подходов применения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Уровни инфраструктуры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Содержимое 3"/>
          <p:cNvGraphicFramePr>
            <a:graphicFrameLocks/>
          </p:cNvGraphicFramePr>
          <p:nvPr/>
        </p:nvGraphicFramePr>
        <p:xfrm>
          <a:off x="363109" y="1741118"/>
          <a:ext cx="8229600" cy="4625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Основные пути решения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</a:rPr>
              <a:t>Организация должна планировать, реализовывать и контролировать процессы, необходимые для соответствия требованиям информационной безопасности и для осуществления действий </a:t>
            </a:r>
            <a:r>
              <a:rPr lang="ru-RU" b="1" dirty="0" smtClean="0">
                <a:solidFill>
                  <a:srgbClr val="000000"/>
                </a:solidFill>
              </a:rPr>
              <a:t>по рассмотрению рисков и возможностей</a:t>
            </a:r>
            <a:r>
              <a:rPr lang="ru-RU" dirty="0" smtClean="0">
                <a:solidFill>
                  <a:srgbClr val="000000"/>
                </a:solidFill>
              </a:rPr>
              <a:t>. </a:t>
            </a:r>
          </a:p>
          <a:p>
            <a:r>
              <a:rPr lang="ru-RU" dirty="0" smtClean="0">
                <a:solidFill>
                  <a:srgbClr val="000000"/>
                </a:solidFill>
              </a:rPr>
              <a:t>Организация должна также реализовывать планы по достижению целей информационной безопасности, определенных в соответствии с </a:t>
            </a:r>
            <a:r>
              <a:rPr lang="ru-RU" b="1" dirty="0" smtClean="0">
                <a:solidFill>
                  <a:srgbClr val="000000"/>
                </a:solidFill>
              </a:rPr>
              <a:t>оценкой риска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</a:p>
          <a:p>
            <a:r>
              <a:rPr lang="ru-RU" dirty="0" smtClean="0">
                <a:solidFill>
                  <a:srgbClr val="000000"/>
                </a:solidFill>
              </a:rPr>
              <a:t>Организация должна хранить </a:t>
            </a:r>
            <a:r>
              <a:rPr lang="ru-RU" b="1" dirty="0" smtClean="0">
                <a:solidFill>
                  <a:srgbClr val="000000"/>
                </a:solidFill>
              </a:rPr>
              <a:t>документированную информацию</a:t>
            </a:r>
            <a:r>
              <a:rPr lang="ru-RU" dirty="0" smtClean="0">
                <a:solidFill>
                  <a:srgbClr val="000000"/>
                </a:solidFill>
              </a:rPr>
              <a:t> в объеме, необходимом для обеспечения уверенности в том, что процессы были выполнены в соответствии с планами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  <a:endParaRPr lang="ru-RU" dirty="0" smtClean="0">
              <a:solidFill>
                <a:srgbClr val="000000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15206" y="6357958"/>
            <a:ext cx="1928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ISO 27001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Основные пути решения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 smtClean="0">
                <a:solidFill>
                  <a:srgbClr val="000000"/>
                </a:solidFill>
              </a:rPr>
              <a:t>В </a:t>
            </a:r>
            <a:r>
              <a:rPr lang="ru-RU" dirty="0" smtClean="0">
                <a:solidFill>
                  <a:srgbClr val="000000"/>
                </a:solidFill>
              </a:rPr>
              <a:t>организации необходимо управлять </a:t>
            </a:r>
            <a:r>
              <a:rPr lang="ru-RU" b="1" dirty="0" smtClean="0">
                <a:solidFill>
                  <a:srgbClr val="000000"/>
                </a:solidFill>
              </a:rPr>
              <a:t>запланированными изменениями </a:t>
            </a:r>
            <a:r>
              <a:rPr lang="ru-RU" dirty="0" smtClean="0">
                <a:solidFill>
                  <a:srgbClr val="000000"/>
                </a:solidFill>
              </a:rPr>
              <a:t>системы менеджмента информационной безопасности и анализировать последствия </a:t>
            </a:r>
            <a:r>
              <a:rPr lang="ru-RU" b="1" dirty="0" smtClean="0">
                <a:solidFill>
                  <a:srgbClr val="000000"/>
                </a:solidFill>
              </a:rPr>
              <a:t>незапланированных изменений</a:t>
            </a:r>
            <a:r>
              <a:rPr lang="ru-RU" dirty="0" smtClean="0">
                <a:solidFill>
                  <a:srgbClr val="000000"/>
                </a:solidFill>
              </a:rPr>
              <a:t>, принимая при необходимости меры по снижению любых неблагоприятных последствий</a:t>
            </a:r>
            <a:r>
              <a:rPr lang="ru-RU" dirty="0" smtClean="0">
                <a:solidFill>
                  <a:srgbClr val="000000"/>
                </a:solidFill>
              </a:rPr>
              <a:t>.</a:t>
            </a:r>
          </a:p>
          <a:p>
            <a:endParaRPr lang="ru-RU" dirty="0" smtClean="0">
              <a:solidFill>
                <a:srgbClr val="000000"/>
              </a:solidFill>
            </a:endParaRPr>
          </a:p>
          <a:p>
            <a:endParaRPr lang="ru-RU" dirty="0" smtClean="0">
              <a:solidFill>
                <a:srgbClr val="000000"/>
              </a:solidFill>
            </a:endParaRPr>
          </a:p>
          <a:p>
            <a:r>
              <a:rPr lang="ru-RU" dirty="0" smtClean="0">
                <a:solidFill>
                  <a:srgbClr val="000000"/>
                </a:solidFill>
              </a:rPr>
              <a:t>Процессы организации, осуществляемые с использованием </a:t>
            </a:r>
            <a:r>
              <a:rPr lang="ru-RU" b="1" dirty="0" err="1" smtClean="0">
                <a:solidFill>
                  <a:srgbClr val="000000"/>
                </a:solidFill>
              </a:rPr>
              <a:t>аутсорсинг</a:t>
            </a:r>
            <a:r>
              <a:rPr lang="ru-RU" dirty="0" err="1" smtClean="0">
                <a:solidFill>
                  <a:srgbClr val="000000"/>
                </a:solidFill>
              </a:rPr>
              <a:t>а</a:t>
            </a:r>
            <a:r>
              <a:rPr lang="ru-RU" dirty="0" smtClean="0">
                <a:solidFill>
                  <a:srgbClr val="000000"/>
                </a:solidFill>
              </a:rPr>
              <a:t>, должны быть определены и проконтролированы.</a:t>
            </a:r>
            <a:endParaRPr lang="ru-RU" dirty="0">
              <a:solidFill>
                <a:srgbClr val="000000"/>
              </a:solidFill>
              <a:latin typeface="ui-sans-serif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15206" y="6357958"/>
            <a:ext cx="1928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ISO 27001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Основные пути решения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 smtClean="0">
                <a:solidFill>
                  <a:srgbClr val="000000"/>
                </a:solidFill>
              </a:rPr>
              <a:t>ИБ должна приниматься во внимание на каждом этапе жизненного цикла информационных систем, в пределах которого они планируются, конкретизируются, проектируются, разрабатываются, тестируются, внедряются, используются, поддерживаются и выводятся из эксплуатации. </a:t>
            </a:r>
            <a:endParaRPr lang="ru-RU" dirty="0" smtClean="0">
              <a:solidFill>
                <a:srgbClr val="000000"/>
              </a:solidFill>
            </a:endParaRPr>
          </a:p>
          <a:p>
            <a:endParaRPr lang="ru-RU" dirty="0" smtClean="0">
              <a:solidFill>
                <a:srgbClr val="000000"/>
              </a:solidFill>
            </a:endParaRPr>
          </a:p>
          <a:p>
            <a:r>
              <a:rPr lang="ru-RU" dirty="0" smtClean="0">
                <a:solidFill>
                  <a:srgbClr val="000000"/>
                </a:solidFill>
              </a:rPr>
              <a:t>Новые </a:t>
            </a:r>
            <a:r>
              <a:rPr lang="ru-RU" dirty="0" smtClean="0">
                <a:solidFill>
                  <a:srgbClr val="000000"/>
                </a:solidFill>
              </a:rPr>
              <a:t>системные разработки и изменения в существующих системах предоставляют организациям возможность обновления и совершенствования мер обеспечения ИБ, принимая во внимание совершившиеся инциденты, а также текущие и прогнозируемые риски ИБ.</a:t>
            </a:r>
          </a:p>
          <a:p>
            <a:endParaRPr lang="ru-RU" dirty="0">
              <a:solidFill>
                <a:srgbClr val="000000"/>
              </a:solidFill>
              <a:latin typeface="ui-sans-serif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215206" y="6357958"/>
            <a:ext cx="19287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ISO 2700</a:t>
            </a:r>
            <a:r>
              <a:rPr lang="ru-RU" sz="1400" dirty="0" smtClean="0">
                <a:solidFill>
                  <a:schemeClr val="bg1"/>
                </a:solidFill>
              </a:rPr>
              <a:t>2</a:t>
            </a:r>
            <a:endParaRPr lang="ru-RU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lh4.googleusercontent.com/ONcNkBadrXtah8_PgD9l03n19y4nlg-MTHEy9GDauG2v7RcY7fqwTNC2lB3brRxA48_Y5e2Rb9cVttpPm5VxOSSh00i1TWgkTm-zufHWlMkK11eCNyozIma1H4kqgGw8rsd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4" y="2161610"/>
            <a:ext cx="5072066" cy="2621517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dirty="0" smtClean="0">
                <a:solidFill>
                  <a:schemeClr val="bg1"/>
                </a:solidFill>
              </a:rPr>
              <a:t>Описание исследуемой </a:t>
            </a:r>
            <a:r>
              <a:rPr lang="ru-RU" sz="3600" dirty="0" smtClean="0">
                <a:solidFill>
                  <a:schemeClr val="bg1"/>
                </a:solidFill>
              </a:rPr>
              <a:t>области</a:t>
            </a:r>
            <a:endParaRPr lang="ru-RU" sz="3600" dirty="0">
              <a:solidFill>
                <a:schemeClr val="bg1"/>
              </a:solidFill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79512" y="1340768"/>
            <a:ext cx="717857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chemeClr val="bg1"/>
                </a:solidFill>
              </a:rPr>
              <a:t>Трансформационные </a:t>
            </a:r>
            <a:r>
              <a:rPr lang="ru-RU" sz="2000" b="1" dirty="0" smtClean="0">
                <a:solidFill>
                  <a:schemeClr val="bg1"/>
                </a:solidFill>
              </a:rPr>
              <a:t>изменения</a:t>
            </a:r>
            <a:r>
              <a:rPr lang="ru-RU" sz="2000" dirty="0" smtClean="0">
                <a:solidFill>
                  <a:schemeClr val="bg1"/>
                </a:solidFill>
              </a:rPr>
              <a:t> как в составе средств защиты информации, так и в лежащей в основе обеспечения информационной безопасности </a:t>
            </a:r>
            <a:r>
              <a:rPr lang="ru-RU" sz="2000" dirty="0" smtClean="0">
                <a:solidFill>
                  <a:schemeClr val="bg1"/>
                </a:solidFill>
              </a:rPr>
              <a:t>модели </a:t>
            </a:r>
            <a:r>
              <a:rPr lang="ru-RU" sz="2000" dirty="0" smtClean="0">
                <a:solidFill>
                  <a:schemeClr val="bg1"/>
                </a:solidFill>
              </a:rPr>
              <a:t>их применения. </a:t>
            </a:r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Как </a:t>
            </a:r>
            <a:r>
              <a:rPr lang="ru-RU" sz="2000" dirty="0" smtClean="0">
                <a:solidFill>
                  <a:schemeClr val="bg1"/>
                </a:solidFill>
              </a:rPr>
              <a:t>минимум необходимо отметить следующие моменты:</a:t>
            </a:r>
          </a:p>
          <a:p>
            <a:r>
              <a:rPr lang="ru-RU" sz="2000" dirty="0" smtClean="0">
                <a:solidFill>
                  <a:schemeClr val="bg1"/>
                </a:solidFill>
              </a:rPr>
              <a:t>1. Агрегирование данных предполагает не только создание и использование баз данных, содержащих такие агрегированные данные, но и управление на основе </a:t>
            </a:r>
            <a:r>
              <a:rPr lang="ru-RU" sz="2000" dirty="0" smtClean="0">
                <a:solidFill>
                  <a:schemeClr val="bg1"/>
                </a:solidFill>
              </a:rPr>
              <a:t>данных.</a:t>
            </a:r>
            <a:endParaRPr lang="ru-RU" sz="2000" dirty="0" smtClean="0">
              <a:solidFill>
                <a:schemeClr val="bg1"/>
              </a:solidFill>
            </a:endParaRPr>
          </a:p>
          <a:p>
            <a:r>
              <a:rPr lang="ru-RU" sz="2000" dirty="0" smtClean="0">
                <a:solidFill>
                  <a:schemeClr val="bg1"/>
                </a:solidFill>
              </a:rPr>
              <a:t>2.  Появление слоя управления данными в свою очередь должно </a:t>
            </a:r>
            <a:r>
              <a:rPr lang="ru-RU" sz="2000" dirty="0" smtClean="0">
                <a:solidFill>
                  <a:schemeClr val="bg1"/>
                </a:solidFill>
              </a:rPr>
              <a:t>порождать отдельный </a:t>
            </a:r>
            <a:r>
              <a:rPr lang="ru-RU" sz="2000" dirty="0" smtClean="0">
                <a:solidFill>
                  <a:schemeClr val="bg1"/>
                </a:solidFill>
              </a:rPr>
              <a:t>слой управления знаниями</a:t>
            </a:r>
            <a:r>
              <a:rPr lang="ru-RU" sz="2000" dirty="0" smtClean="0">
                <a:solidFill>
                  <a:schemeClr val="bg1"/>
                </a:solidFill>
              </a:rPr>
              <a:t>.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Анализ </a:t>
            </a:r>
            <a:r>
              <a:rPr lang="ru-RU" dirty="0" smtClean="0">
                <a:solidFill>
                  <a:schemeClr val="bg1"/>
                </a:solidFill>
              </a:rPr>
              <a:t>процесса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38" name="Picture 4" descr="http://icons.iconarchive.com/icons/untergunter/leaf-mimes/256/app-x-executable-ic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968" y="5193739"/>
            <a:ext cx="677689" cy="6776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2857488" y="5857892"/>
            <a:ext cx="55629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Процесс ЦТ и управление изменениями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3458609" y="4138116"/>
            <a:ext cx="3672408" cy="4430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Генерация новых задач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3458609" y="3706068"/>
            <a:ext cx="3672408" cy="4430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Отклонения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42" name="Прямая со стрелкой 41"/>
          <p:cNvCxnSpPr>
            <a:stCxn id="38" idx="0"/>
            <a:endCxn id="40" idx="2"/>
          </p:cNvCxnSpPr>
          <p:nvPr/>
        </p:nvCxnSpPr>
        <p:spPr>
          <a:xfrm flipV="1">
            <a:off x="5294813" y="4581128"/>
            <a:ext cx="0" cy="612611"/>
          </a:xfrm>
          <a:prstGeom prst="straightConnector1">
            <a:avLst/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/>
          <p:cNvSpPr/>
          <p:nvPr/>
        </p:nvSpPr>
        <p:spPr>
          <a:xfrm>
            <a:off x="2735981" y="1984013"/>
            <a:ext cx="2328118" cy="74191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Анализ индикаторов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5834873" y="1988840"/>
            <a:ext cx="2232248" cy="73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Контрольные точки </a:t>
            </a:r>
            <a:r>
              <a:rPr lang="ru-RU" sz="2000" b="1" dirty="0" smtClean="0">
                <a:solidFill>
                  <a:schemeClr val="bg1"/>
                </a:solidFill>
              </a:rPr>
              <a:t>внедрения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012983" y="4325034"/>
            <a:ext cx="1478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Новые задачи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30817" y="47251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(1)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4028" y="328702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(2)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61" name="Соединительная линия уступом 60"/>
          <p:cNvCxnSpPr>
            <a:endCxn id="43" idx="1"/>
          </p:cNvCxnSpPr>
          <p:nvPr/>
        </p:nvCxnSpPr>
        <p:spPr>
          <a:xfrm flipV="1">
            <a:off x="1482120" y="2354972"/>
            <a:ext cx="1253861" cy="1185600"/>
          </a:xfrm>
          <a:prstGeom prst="bentConnector3">
            <a:avLst/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Соединительная линия уступом 3072"/>
          <p:cNvCxnSpPr/>
          <p:nvPr/>
        </p:nvCxnSpPr>
        <p:spPr>
          <a:xfrm rot="10800000">
            <a:off x="2113164" y="3540572"/>
            <a:ext cx="1351413" cy="819052"/>
          </a:xfrm>
          <a:prstGeom prst="bentConnector3">
            <a:avLst>
              <a:gd name="adj1" fmla="val 100394"/>
            </a:avLst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Прямая со стрелкой 3102"/>
          <p:cNvCxnSpPr>
            <a:stCxn id="43" idx="3"/>
            <a:endCxn id="44" idx="1"/>
          </p:cNvCxnSpPr>
          <p:nvPr/>
        </p:nvCxnSpPr>
        <p:spPr>
          <a:xfrm>
            <a:off x="5064099" y="2354972"/>
            <a:ext cx="770774" cy="0"/>
          </a:xfrm>
          <a:prstGeom prst="straightConnector1">
            <a:avLst/>
          </a:prstGeom>
          <a:ln w="31750">
            <a:solidFill>
              <a:srgbClr val="C0000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7" name="Соединительная линия уступом 3106"/>
          <p:cNvCxnSpPr>
            <a:stCxn id="43" idx="2"/>
            <a:endCxn id="41" idx="0"/>
          </p:cNvCxnSpPr>
          <p:nvPr/>
        </p:nvCxnSpPr>
        <p:spPr>
          <a:xfrm rot="16200000" flipH="1">
            <a:off x="4107358" y="2518612"/>
            <a:ext cx="980137" cy="1394773"/>
          </a:xfrm>
          <a:prstGeom prst="bentConnector3">
            <a:avLst/>
          </a:prstGeom>
          <a:ln w="31750">
            <a:solidFill>
              <a:srgbClr val="FF920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3" name="Соединительная линия уступом 3112"/>
          <p:cNvCxnSpPr>
            <a:endCxn id="44" idx="2"/>
          </p:cNvCxnSpPr>
          <p:nvPr/>
        </p:nvCxnSpPr>
        <p:spPr>
          <a:xfrm flipV="1">
            <a:off x="5294812" y="2721104"/>
            <a:ext cx="1656185" cy="494894"/>
          </a:xfrm>
          <a:prstGeom prst="bentConnector2">
            <a:avLst/>
          </a:prstGeom>
          <a:ln w="31750">
            <a:solidFill>
              <a:srgbClr val="C000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185855" y="28436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(3)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209370" y="191683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(4)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012160" y="28436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(5)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3284984"/>
            <a:ext cx="150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Сценарий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693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Комплексирование задач ИБ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98" name="Rectangle 2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3821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3793" name="Group 1"/>
          <p:cNvGrpSpPr>
            <a:grpSpLocks/>
          </p:cNvGrpSpPr>
          <p:nvPr/>
        </p:nvGrpSpPr>
        <p:grpSpPr bwMode="auto">
          <a:xfrm>
            <a:off x="428596" y="1285860"/>
            <a:ext cx="8143932" cy="5429288"/>
            <a:chOff x="1260" y="7532"/>
            <a:chExt cx="9388" cy="5947"/>
          </a:xfrm>
        </p:grpSpPr>
        <p:sp>
          <p:nvSpPr>
            <p:cNvPr id="33820" name="AutoShape 28"/>
            <p:cNvSpPr>
              <a:spLocks noChangeAspect="1" noChangeArrowheads="1"/>
            </p:cNvSpPr>
            <p:nvPr/>
          </p:nvSpPr>
          <p:spPr bwMode="auto">
            <a:xfrm>
              <a:off x="1260" y="7532"/>
              <a:ext cx="9388" cy="594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819" name="Rectangle 27"/>
            <p:cNvSpPr>
              <a:spLocks noChangeArrowheads="1"/>
            </p:cNvSpPr>
            <p:nvPr/>
          </p:nvSpPr>
          <p:spPr bwMode="auto">
            <a:xfrm>
              <a:off x="4930" y="7633"/>
              <a:ext cx="5195" cy="4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818" name="Rectangle 26"/>
            <p:cNvSpPr>
              <a:spLocks noChangeArrowheads="1"/>
            </p:cNvSpPr>
            <p:nvPr/>
          </p:nvSpPr>
          <p:spPr bwMode="auto">
            <a:xfrm>
              <a:off x="1635" y="11940"/>
              <a:ext cx="8490" cy="14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" name="Rectangle 74"/>
            <p:cNvSpPr>
              <a:spLocks noChangeArrowheads="1"/>
            </p:cNvSpPr>
            <p:nvPr/>
          </p:nvSpPr>
          <p:spPr bwMode="auto">
            <a:xfrm>
              <a:off x="3693" y="12113"/>
              <a:ext cx="4845" cy="38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Поддерживающие процессы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6" name="Rectangle 81"/>
            <p:cNvSpPr>
              <a:spLocks noChangeArrowheads="1"/>
            </p:cNvSpPr>
            <p:nvPr/>
          </p:nvSpPr>
          <p:spPr bwMode="auto">
            <a:xfrm>
              <a:off x="1785" y="12707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записями и документами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5" name="Rectangle 81"/>
            <p:cNvSpPr>
              <a:spLocks noChangeArrowheads="1"/>
            </p:cNvSpPr>
            <p:nvPr/>
          </p:nvSpPr>
          <p:spPr bwMode="auto">
            <a:xfrm>
              <a:off x="4872" y="12692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ресурсами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4" name="Rectangle 81"/>
            <p:cNvSpPr>
              <a:spLocks noChangeArrowheads="1"/>
            </p:cNvSpPr>
            <p:nvPr/>
          </p:nvSpPr>
          <p:spPr bwMode="auto">
            <a:xfrm>
              <a:off x="7648" y="12707"/>
              <a:ext cx="2160" cy="62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коммуникациями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3" name="Rectangle 74"/>
            <p:cNvSpPr>
              <a:spLocks noChangeArrowheads="1"/>
            </p:cNvSpPr>
            <p:nvPr/>
          </p:nvSpPr>
          <p:spPr bwMode="auto">
            <a:xfrm>
              <a:off x="5016" y="10837"/>
              <a:ext cx="2419" cy="9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Процессы управления ИБ для уровня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2" name="Rectangle 20"/>
            <p:cNvSpPr>
              <a:spLocks noChangeArrowheads="1"/>
            </p:cNvSpPr>
            <p:nvPr/>
          </p:nvSpPr>
          <p:spPr bwMode="auto">
            <a:xfrm>
              <a:off x="1635" y="7633"/>
              <a:ext cx="3136" cy="421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811" name="Rectangle 74"/>
            <p:cNvSpPr>
              <a:spLocks noChangeArrowheads="1"/>
            </p:cNvSpPr>
            <p:nvPr/>
          </p:nvSpPr>
          <p:spPr bwMode="auto">
            <a:xfrm>
              <a:off x="2274" y="11338"/>
              <a:ext cx="2419" cy="4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Уровни управления ИБ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10" name="Rectangle 81"/>
            <p:cNvSpPr>
              <a:spLocks noChangeArrowheads="1"/>
            </p:cNvSpPr>
            <p:nvPr/>
          </p:nvSpPr>
          <p:spPr bwMode="auto">
            <a:xfrm>
              <a:off x="5016" y="7700"/>
              <a:ext cx="2419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Сбор данных: создание безопасных алгоритмов и подходов безопасного сбора и анализа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Rectangle 81"/>
            <p:cNvSpPr>
              <a:spLocks noChangeArrowheads="1"/>
            </p:cNvSpPr>
            <p:nvPr/>
          </p:nvSpPr>
          <p:spPr bwMode="auto">
            <a:xfrm>
              <a:off x="7584" y="7700"/>
              <a:ext cx="2446" cy="9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Безопасная классификация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доступом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Безопасное применение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Безопасное архивирование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8" name="Rectangle 81"/>
            <p:cNvSpPr>
              <a:spLocks noChangeArrowheads="1"/>
            </p:cNvSpPr>
            <p:nvPr/>
          </p:nvSpPr>
          <p:spPr bwMode="auto">
            <a:xfrm>
              <a:off x="5016" y="8728"/>
              <a:ext cx="2419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Верификация данных: создание безопасных алгоритмов и подходов подтверждения и верификации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7" name="Rectangle 81"/>
            <p:cNvSpPr>
              <a:spLocks noChangeArrowheads="1"/>
            </p:cNvSpPr>
            <p:nvPr/>
          </p:nvSpPr>
          <p:spPr bwMode="auto">
            <a:xfrm>
              <a:off x="7584" y="9781"/>
              <a:ext cx="2446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Валидация данных: создание безопасных алгоритмов и подходов работы с данными агрегированных баз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6" name="Rectangle 81"/>
            <p:cNvSpPr>
              <a:spLocks noChangeArrowheads="1"/>
            </p:cNvSpPr>
            <p:nvPr/>
          </p:nvSpPr>
          <p:spPr bwMode="auto">
            <a:xfrm>
              <a:off x="7584" y="10837"/>
              <a:ext cx="2446" cy="945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Использование данных: создание безопасных алгоритмов и подходов применения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5" name="Rectangle 81"/>
            <p:cNvSpPr>
              <a:spLocks noChangeArrowheads="1"/>
            </p:cNvSpPr>
            <p:nvPr/>
          </p:nvSpPr>
          <p:spPr bwMode="auto">
            <a:xfrm>
              <a:off x="7584" y="8728"/>
              <a:ext cx="2446" cy="9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доступом и контроль привилегированного доступа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4" name="Rectangle 81"/>
            <p:cNvSpPr>
              <a:spLocks noChangeArrowheads="1"/>
            </p:cNvSpPr>
            <p:nvPr/>
          </p:nvSpPr>
          <p:spPr bwMode="auto">
            <a:xfrm>
              <a:off x="5016" y="9781"/>
              <a:ext cx="2419" cy="9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Алгоритмы контроля автоматического доступа к данным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целостностью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3" name="Rectangle 74"/>
            <p:cNvSpPr>
              <a:spLocks noChangeArrowheads="1"/>
            </p:cNvSpPr>
            <p:nvPr/>
          </p:nvSpPr>
          <p:spPr bwMode="auto">
            <a:xfrm>
              <a:off x="2184" y="7709"/>
              <a:ext cx="2085" cy="5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знаний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2" name="Rectangle 74"/>
            <p:cNvSpPr>
              <a:spLocks noChangeArrowheads="1"/>
            </p:cNvSpPr>
            <p:nvPr/>
          </p:nvSpPr>
          <p:spPr bwMode="auto">
            <a:xfrm>
              <a:off x="2184" y="10479"/>
              <a:ext cx="2037" cy="62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инфраструктуры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1" name="Rectangle 74"/>
            <p:cNvSpPr>
              <a:spLocks noChangeArrowheads="1"/>
            </p:cNvSpPr>
            <p:nvPr/>
          </p:nvSpPr>
          <p:spPr bwMode="auto">
            <a:xfrm>
              <a:off x="2184" y="9600"/>
              <a:ext cx="2037" cy="5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организации процессов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800" name="Rectangle 74"/>
            <p:cNvSpPr>
              <a:spLocks noChangeArrowheads="1"/>
            </p:cNvSpPr>
            <p:nvPr/>
          </p:nvSpPr>
          <p:spPr bwMode="auto">
            <a:xfrm>
              <a:off x="2184" y="8655"/>
              <a:ext cx="2085" cy="562"/>
            </a:xfrm>
            <a:prstGeom prst="rect">
              <a:avLst/>
            </a:prstGeom>
            <a:solidFill>
              <a:srgbClr val="E7E6E6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1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Уровень данных</a:t>
              </a:r>
              <a:endParaRPr kumimoji="0" lang="ru-RU" sz="11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799" name="AutoShape 7"/>
            <p:cNvSpPr>
              <a:spLocks noChangeShapeType="1"/>
            </p:cNvSpPr>
            <p:nvPr/>
          </p:nvSpPr>
          <p:spPr bwMode="auto">
            <a:xfrm rot="10800000" flipH="1">
              <a:off x="2184" y="9876"/>
              <a:ext cx="1" cy="917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798" name="AutoShape 6"/>
            <p:cNvSpPr>
              <a:spLocks noChangeShapeType="1"/>
            </p:cNvSpPr>
            <p:nvPr/>
          </p:nvSpPr>
          <p:spPr bwMode="auto">
            <a:xfrm rot="10800000" flipH="1">
              <a:off x="2184" y="8936"/>
              <a:ext cx="1" cy="940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797" name="AutoShape 5"/>
            <p:cNvSpPr>
              <a:spLocks noChangeShapeType="1"/>
            </p:cNvSpPr>
            <p:nvPr/>
          </p:nvSpPr>
          <p:spPr bwMode="auto">
            <a:xfrm rot="10800000" flipH="1">
              <a:off x="2184" y="7979"/>
              <a:ext cx="1" cy="957"/>
            </a:xfrm>
            <a:prstGeom prst="curvedConnector3">
              <a:avLst>
                <a:gd name="adj1" fmla="val -360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796" name="AutoShape 4"/>
            <p:cNvSpPr>
              <a:spLocks noChangeShapeType="1"/>
            </p:cNvSpPr>
            <p:nvPr/>
          </p:nvSpPr>
          <p:spPr bwMode="auto">
            <a:xfrm>
              <a:off x="4269" y="7979"/>
              <a:ext cx="1" cy="957"/>
            </a:xfrm>
            <a:prstGeom prst="curvedConnector3">
              <a:avLst>
                <a:gd name="adj1" fmla="val 359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795" name="AutoShape 3"/>
            <p:cNvSpPr>
              <a:spLocks noChangeShapeType="1"/>
            </p:cNvSpPr>
            <p:nvPr/>
          </p:nvSpPr>
          <p:spPr bwMode="auto">
            <a:xfrm flipH="1">
              <a:off x="4221" y="8936"/>
              <a:ext cx="48" cy="940"/>
            </a:xfrm>
            <a:prstGeom prst="curvedConnector3">
              <a:avLst>
                <a:gd name="adj1" fmla="val -747917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  <p:sp>
          <p:nvSpPr>
            <p:cNvPr id="33794" name="AutoShape 2"/>
            <p:cNvSpPr>
              <a:spLocks noChangeShapeType="1"/>
            </p:cNvSpPr>
            <p:nvPr/>
          </p:nvSpPr>
          <p:spPr bwMode="auto">
            <a:xfrm>
              <a:off x="4221" y="9876"/>
              <a:ext cx="1" cy="917"/>
            </a:xfrm>
            <a:prstGeom prst="curvedConnector3">
              <a:avLst>
                <a:gd name="adj1" fmla="val 3590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1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52995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Проблематика внедрения ИИ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07904" y="4135735"/>
            <a:ext cx="1233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Bug is here</a:t>
            </a:r>
            <a:endParaRPr lang="ru-RU" b="1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357159" y="1357299"/>
          <a:ext cx="8572558" cy="5382066"/>
        </p:xfrm>
        <a:graphic>
          <a:graphicData uri="http://schemas.openxmlformats.org/drawingml/2006/table">
            <a:tbl>
              <a:tblPr/>
              <a:tblGrid>
                <a:gridCol w="1698864"/>
                <a:gridCol w="1698864"/>
                <a:gridCol w="1698864"/>
                <a:gridCol w="1698864"/>
                <a:gridCol w="1777102"/>
              </a:tblGrid>
              <a:tr h="1074794">
                <a:tc>
                  <a:txBody>
                    <a:bodyPr/>
                    <a:lstStyle/>
                    <a:p>
                      <a:pPr fontAlgn="t"/>
                      <a:r>
                        <a:rPr lang="ru-RU" sz="1500" dirty="0"/>
                        <a:t> </a:t>
                      </a: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ИБ-вызовы</a:t>
                      </a:r>
                      <a:r>
                        <a:rPr lang="ru-RU" sz="12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в области</a:t>
                      </a:r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 данных</a:t>
                      </a:r>
                      <a:endParaRPr lang="ru-RU" sz="1500" dirty="0"/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200" b="0" i="0" u="none" strike="noStrike" kern="1200" dirty="0" err="1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ИБ-вызовы</a:t>
                      </a:r>
                      <a:r>
                        <a:rPr lang="ru-RU" sz="12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при трансформации процесса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 err="1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ИБ-проблемы</a:t>
                      </a:r>
                      <a:r>
                        <a:rPr lang="ru-RU" sz="12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 ролевых моделей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kern="1200" dirty="0" smtClean="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Технические вызовы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1227398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Эксперт </a:t>
                      </a: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</a:t>
                      </a:r>
                      <a:r>
                        <a:rPr lang="ru-RU" sz="1400" kern="1200" dirty="0" err="1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контента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Доработка регламента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Распределение ролей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Оценка эффективности использования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00"/>
                    </a:solidFill>
                  </a:tcPr>
                </a:tc>
              </a:tr>
              <a:tr h="1013752"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Система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Выполнение функции хранения и обработки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Доработка внутренних и внешних связей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Настройка ролевой</a:t>
                      </a:r>
                      <a:r>
                        <a:rPr lang="ru-RU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модели</a:t>
                      </a:r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Интерфейсы,</a:t>
                      </a:r>
                      <a:r>
                        <a:rPr lang="ru-RU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протоколы, учетные записи и пр.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461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Пользователь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Использование данных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SLA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Формирование роли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Управление правами</a:t>
                      </a:r>
                      <a:r>
                        <a:rPr lang="ru-RU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доступа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020"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Аудитор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Использование данных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Использование</a:t>
                      </a:r>
                      <a:r>
                        <a:rPr lang="ru-RU" sz="14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данных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4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Использование данных</a:t>
                      </a:r>
                      <a:endParaRPr lang="ru-RU" sz="140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</a:tr>
              <a:tr h="893985">
                <a:tc gridSpan="5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200" b="0" i="0" u="none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Оценка </a:t>
                      </a:r>
                      <a:r>
                        <a:rPr lang="ru-RU" sz="1200" b="0" i="0" u="none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репутационных</a:t>
                      </a:r>
                      <a:r>
                        <a:rPr lang="ru-RU" sz="1200" b="0" i="0" u="none" strike="noStrike" baseline="0" dirty="0" smtClean="0">
                          <a:solidFill>
                            <a:srgbClr val="000000"/>
                          </a:solidFill>
                          <a:latin typeface="Arial"/>
                        </a:rPr>
                        <a:t> и иных нематериальных рисков</a:t>
                      </a:r>
                      <a:endParaRPr lang="ru-RU" sz="1500" dirty="0"/>
                    </a:p>
                  </a:txBody>
                  <a:tcPr marL="79478" marR="79478" marT="79478" marB="79478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2749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Анализ </a:t>
            </a:r>
            <a:r>
              <a:rPr lang="ru-RU" dirty="0" smtClean="0">
                <a:solidFill>
                  <a:schemeClr val="bg1"/>
                </a:solidFill>
              </a:rPr>
              <a:t>ЦТ пр</a:t>
            </a:r>
            <a:r>
              <a:rPr lang="ru-RU" dirty="0" smtClean="0">
                <a:solidFill>
                  <a:schemeClr val="bg1"/>
                </a:solidFill>
              </a:rPr>
              <a:t>и внедрении ИИ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38" name="Picture 4" descr="http://icons.iconarchive.com/icons/untergunter/leaf-mimes/256/app-x-executable-ico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968" y="5193739"/>
            <a:ext cx="677689" cy="6776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4255143" y="5877272"/>
            <a:ext cx="3362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Используемые сервисы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3458609" y="4138116"/>
            <a:ext cx="3672408" cy="4430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Генерация новых </a:t>
            </a:r>
            <a:r>
              <a:rPr lang="ru-RU" b="1" dirty="0" smtClean="0">
                <a:solidFill>
                  <a:schemeClr val="bg1"/>
                </a:solidFill>
              </a:rPr>
              <a:t>задач ИБ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3458609" y="3706068"/>
            <a:ext cx="3672408" cy="4430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Оценка использования ИИ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42" name="Прямая со стрелкой 41"/>
          <p:cNvCxnSpPr>
            <a:stCxn id="38" idx="0"/>
            <a:endCxn id="40" idx="2"/>
          </p:cNvCxnSpPr>
          <p:nvPr/>
        </p:nvCxnSpPr>
        <p:spPr>
          <a:xfrm flipV="1">
            <a:off x="5294813" y="4581128"/>
            <a:ext cx="0" cy="612611"/>
          </a:xfrm>
          <a:prstGeom prst="straightConnector1">
            <a:avLst/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Прямоугольник 42"/>
          <p:cNvSpPr/>
          <p:nvPr/>
        </p:nvSpPr>
        <p:spPr>
          <a:xfrm>
            <a:off x="2735981" y="1984013"/>
            <a:ext cx="2328118" cy="74191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Анализ </a:t>
            </a:r>
            <a:r>
              <a:rPr lang="ru-RU" sz="2000" b="1" dirty="0" smtClean="0">
                <a:solidFill>
                  <a:schemeClr val="bg1"/>
                </a:solidFill>
              </a:rPr>
              <a:t>границ и области действия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4" name="Прямоугольник 43"/>
          <p:cNvSpPr/>
          <p:nvPr/>
        </p:nvSpPr>
        <p:spPr>
          <a:xfrm>
            <a:off x="5834873" y="1988840"/>
            <a:ext cx="2232248" cy="732264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Анализ рисков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012983" y="4325034"/>
            <a:ext cx="1478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Новые </a:t>
            </a:r>
            <a:r>
              <a:rPr lang="ru-RU" sz="2000" b="1" dirty="0" smtClean="0">
                <a:solidFill>
                  <a:schemeClr val="bg1"/>
                </a:solidFill>
              </a:rPr>
              <a:t>задачи ИБ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330817" y="47251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(1)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204028" y="3287026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(2)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61" name="Соединительная линия уступом 60"/>
          <p:cNvCxnSpPr>
            <a:endCxn id="43" idx="1"/>
          </p:cNvCxnSpPr>
          <p:nvPr/>
        </p:nvCxnSpPr>
        <p:spPr>
          <a:xfrm flipV="1">
            <a:off x="1482120" y="2354972"/>
            <a:ext cx="1253861" cy="1185600"/>
          </a:xfrm>
          <a:prstGeom prst="bentConnector3">
            <a:avLst/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" name="Соединительная линия уступом 3072"/>
          <p:cNvCxnSpPr/>
          <p:nvPr/>
        </p:nvCxnSpPr>
        <p:spPr>
          <a:xfrm rot="10800000">
            <a:off x="2113164" y="3540572"/>
            <a:ext cx="1351413" cy="819052"/>
          </a:xfrm>
          <a:prstGeom prst="bentConnector3">
            <a:avLst>
              <a:gd name="adj1" fmla="val 100394"/>
            </a:avLst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3" name="Прямая со стрелкой 3102"/>
          <p:cNvCxnSpPr>
            <a:stCxn id="43" idx="3"/>
            <a:endCxn id="44" idx="1"/>
          </p:cNvCxnSpPr>
          <p:nvPr/>
        </p:nvCxnSpPr>
        <p:spPr>
          <a:xfrm>
            <a:off x="5064099" y="2354972"/>
            <a:ext cx="770774" cy="0"/>
          </a:xfrm>
          <a:prstGeom prst="straightConnector1">
            <a:avLst/>
          </a:prstGeom>
          <a:ln w="31750">
            <a:solidFill>
              <a:srgbClr val="C00000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7" name="Соединительная линия уступом 3106"/>
          <p:cNvCxnSpPr>
            <a:stCxn id="43" idx="2"/>
            <a:endCxn id="41" idx="0"/>
          </p:cNvCxnSpPr>
          <p:nvPr/>
        </p:nvCxnSpPr>
        <p:spPr>
          <a:xfrm rot="16200000" flipH="1">
            <a:off x="4107358" y="2518612"/>
            <a:ext cx="980137" cy="1394773"/>
          </a:xfrm>
          <a:prstGeom prst="bentConnector3">
            <a:avLst/>
          </a:prstGeom>
          <a:ln w="31750">
            <a:solidFill>
              <a:srgbClr val="FF920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3" name="Соединительная линия уступом 3112"/>
          <p:cNvCxnSpPr>
            <a:endCxn id="44" idx="2"/>
          </p:cNvCxnSpPr>
          <p:nvPr/>
        </p:nvCxnSpPr>
        <p:spPr>
          <a:xfrm flipV="1">
            <a:off x="5294812" y="2721104"/>
            <a:ext cx="1656185" cy="494894"/>
          </a:xfrm>
          <a:prstGeom prst="bentConnector2">
            <a:avLst/>
          </a:prstGeom>
          <a:ln w="31750">
            <a:solidFill>
              <a:srgbClr val="C00000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185855" y="28436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(3)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209370" y="191683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(4)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012160" y="2843644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(5)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2844" y="3071810"/>
            <a:ext cx="1544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Сценарий</a:t>
            </a:r>
          </a:p>
          <a:p>
            <a:r>
              <a:rPr lang="ru-RU" sz="2400" b="1" dirty="0" smtClean="0">
                <a:solidFill>
                  <a:schemeClr val="bg1"/>
                </a:solidFill>
              </a:rPr>
              <a:t>риска</a:t>
            </a:r>
            <a:endParaRPr lang="ru-RU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8693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Оценка </a:t>
            </a:r>
            <a:r>
              <a:rPr lang="ru-RU" dirty="0" smtClean="0">
                <a:solidFill>
                  <a:schemeClr val="bg1"/>
                </a:solidFill>
              </a:rPr>
              <a:t>политик безопасности при внедрении ИИ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>
              <a:solidFill>
                <a:schemeClr val="bg1"/>
              </a:solidFill>
            </a:endParaRPr>
          </a:p>
        </p:txBody>
      </p:sp>
      <p:pic>
        <p:nvPicPr>
          <p:cNvPr id="23556" name="Picture 4" descr="http://icons.iconarchive.com/icons/untergunter/leaf-mimes/256/app-x-executable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38" y="4983559"/>
            <a:ext cx="839811" cy="83981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571736" y="5857892"/>
            <a:ext cx="4930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 smtClean="0">
                <a:solidFill>
                  <a:schemeClr val="bg1"/>
                </a:solidFill>
              </a:rPr>
              <a:t>Процесс ЦТ с учетом внедрения ИИ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3131840" y="3922092"/>
            <a:ext cx="3672408" cy="4430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Политика управления доступом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3131840" y="3429000"/>
            <a:ext cx="3672408" cy="50405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 smtClean="0">
                <a:solidFill>
                  <a:schemeClr val="bg1"/>
                </a:solidFill>
              </a:rPr>
              <a:t>Доработка правил </a:t>
            </a:r>
            <a:r>
              <a:rPr lang="ru-RU" b="1" dirty="0" smtClean="0">
                <a:solidFill>
                  <a:schemeClr val="bg1"/>
                </a:solidFill>
              </a:rPr>
              <a:t>управления доступом</a:t>
            </a:r>
            <a:endParaRPr lang="ru-RU" b="1" dirty="0">
              <a:solidFill>
                <a:schemeClr val="bg1"/>
              </a:solidFill>
            </a:endParaRPr>
          </a:p>
        </p:txBody>
      </p:sp>
      <p:cxnSp>
        <p:nvCxnSpPr>
          <p:cNvPr id="13" name="Прямая со стрелкой 12"/>
          <p:cNvCxnSpPr>
            <a:stCxn id="23556" idx="0"/>
            <a:endCxn id="9" idx="2"/>
          </p:cNvCxnSpPr>
          <p:nvPr/>
        </p:nvCxnSpPr>
        <p:spPr>
          <a:xfrm flipV="1">
            <a:off x="4968044" y="4365104"/>
            <a:ext cx="0" cy="618455"/>
          </a:xfrm>
          <a:prstGeom prst="straightConnector1">
            <a:avLst/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3131840" y="1916832"/>
            <a:ext cx="1583036" cy="10081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Анализ </a:t>
            </a:r>
            <a:r>
              <a:rPr lang="ru-RU" sz="2000" b="1" dirty="0" smtClean="0">
                <a:solidFill>
                  <a:schemeClr val="bg1"/>
                </a:solidFill>
              </a:rPr>
              <a:t>изменений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714876" y="1916832"/>
            <a:ext cx="2089372" cy="100811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Оценка изменений</a:t>
            </a:r>
            <a:endParaRPr lang="ru-RU" sz="2000" b="1" dirty="0">
              <a:solidFill>
                <a:schemeClr val="bg1"/>
              </a:solidFill>
            </a:endParaRPr>
          </a:p>
        </p:txBody>
      </p:sp>
      <p:cxnSp>
        <p:nvCxnSpPr>
          <p:cNvPr id="18" name="Прямая со стрелкой 17"/>
          <p:cNvCxnSpPr>
            <a:stCxn id="17" idx="2"/>
          </p:cNvCxnSpPr>
          <p:nvPr/>
        </p:nvCxnSpPr>
        <p:spPr>
          <a:xfrm rot="5400000">
            <a:off x="5485257" y="3154695"/>
            <a:ext cx="504057" cy="44554"/>
          </a:xfrm>
          <a:prstGeom prst="straightConnector1">
            <a:avLst/>
          </a:prstGeom>
          <a:ln w="31750">
            <a:solidFill>
              <a:srgbClr val="FF920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>
            <a:stCxn id="16" idx="2"/>
          </p:cNvCxnSpPr>
          <p:nvPr/>
        </p:nvCxnSpPr>
        <p:spPr>
          <a:xfrm rot="5400000">
            <a:off x="3638461" y="3144103"/>
            <a:ext cx="504057" cy="65738"/>
          </a:xfrm>
          <a:prstGeom prst="straightConnector1">
            <a:avLst/>
          </a:prstGeom>
          <a:ln w="31750">
            <a:solidFill>
              <a:srgbClr val="FF920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ная линия уступом 21"/>
          <p:cNvCxnSpPr>
            <a:stCxn id="9" idx="1"/>
            <a:endCxn id="16" idx="1"/>
          </p:cNvCxnSpPr>
          <p:nvPr/>
        </p:nvCxnSpPr>
        <p:spPr>
          <a:xfrm rot="10800000">
            <a:off x="3131840" y="2420888"/>
            <a:ext cx="1588" cy="1722710"/>
          </a:xfrm>
          <a:prstGeom prst="bentConnector3">
            <a:avLst>
              <a:gd name="adj1" fmla="val 14395466"/>
            </a:avLst>
          </a:prstGeom>
          <a:ln w="31750">
            <a:solidFill>
              <a:srgbClr val="FF920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7584" y="2852936"/>
            <a:ext cx="15545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/>
                </a:solidFill>
              </a:rPr>
              <a:t>Метрики ИБ</a:t>
            </a:r>
            <a:endParaRPr lang="ru-RU" sz="2000" b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04048" y="4509120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(1)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500298" y="300037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(2)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51920" y="2990562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(3)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724128" y="2990562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(4)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55341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Дополнительные условия реализации ИБ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85720" y="1500174"/>
            <a:ext cx="885828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b="1" i="1" dirty="0" smtClean="0">
                <a:solidFill>
                  <a:schemeClr val="bg1"/>
                </a:solidFill>
                <a:sym typeface="Arial"/>
              </a:rPr>
              <a:t>Причина</a:t>
            </a:r>
            <a:r>
              <a:rPr lang="ru-RU" altLang="ru-RU" dirty="0" smtClean="0">
                <a:solidFill>
                  <a:schemeClr val="bg1"/>
                </a:solidFill>
                <a:sym typeface="Arial"/>
              </a:rPr>
              <a:t>: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Увеличение доступного для атак ландшафта за счет новых технологий и применения сервисов и компонентов цифровых платформ</a:t>
            </a:r>
          </a:p>
          <a:p>
            <a:endParaRPr lang="ru-RU" altLang="ru-RU" dirty="0" smtClean="0">
              <a:solidFill>
                <a:schemeClr val="tx2">
                  <a:lumMod val="10000"/>
                </a:schemeClr>
              </a:solidFill>
              <a:sym typeface="Arial"/>
            </a:endParaRPr>
          </a:p>
          <a:p>
            <a:r>
              <a:rPr lang="ru-RU" altLang="ru-RU" b="1" i="1" dirty="0" smtClean="0">
                <a:solidFill>
                  <a:schemeClr val="bg1"/>
                </a:solidFill>
                <a:sym typeface="Arial"/>
              </a:rPr>
              <a:t>Проектирование</a:t>
            </a:r>
            <a:r>
              <a:rPr lang="ru-RU" altLang="ru-RU" b="1" i="1" dirty="0" smtClean="0">
                <a:solidFill>
                  <a:schemeClr val="accent4"/>
                </a:solidFill>
                <a:sym typeface="Arial"/>
              </a:rPr>
              <a:t> </a:t>
            </a:r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– разработка всего, что требуется для приведения стратегии в исполнение, включая систему управления и контроли безопасности активов, размещенных с использованием цифровой платформы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 интеграция средств мониторинга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 реагирование за счет возможностей </a:t>
            </a:r>
            <a:r>
              <a:rPr lang="ru-RU" altLang="ru-RU" dirty="0" err="1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аутсорсинга</a:t>
            </a:r>
            <a:endParaRPr lang="ru-RU" altLang="ru-RU" dirty="0" smtClean="0">
              <a:solidFill>
                <a:schemeClr val="tx2">
                  <a:lumMod val="10000"/>
                </a:schemeClr>
              </a:solidFill>
              <a:sym typeface="Arial"/>
            </a:endParaRPr>
          </a:p>
          <a:p>
            <a:r>
              <a:rPr lang="ru-RU" altLang="ru-RU" b="1" i="1" dirty="0" smtClean="0">
                <a:solidFill>
                  <a:schemeClr val="bg1"/>
                </a:solidFill>
                <a:sym typeface="Arial"/>
              </a:rPr>
              <a:t>Эксплуатация</a:t>
            </a:r>
            <a:r>
              <a:rPr lang="ru-RU" altLang="ru-RU" b="1" i="1" dirty="0" smtClean="0">
                <a:solidFill>
                  <a:schemeClr val="accent4"/>
                </a:solidFill>
                <a:sym typeface="Arial"/>
              </a:rPr>
              <a:t>  </a:t>
            </a:r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– управление информационной безопасностью на регулярной основе, включает в себя управление событиями, инцидентами, проблемами и правами доступа, а также управление технологиями</a:t>
            </a:r>
            <a:endParaRPr lang="en-US" altLang="ru-RU" dirty="0" smtClean="0">
              <a:solidFill>
                <a:schemeClr val="tx2">
                  <a:lumMod val="10000"/>
                </a:schemeClr>
              </a:solidFill>
              <a:sym typeface="Arial"/>
            </a:endParaRPr>
          </a:p>
          <a:p>
            <a:r>
              <a:rPr lang="en-US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</a:t>
            </a:r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 сбор данных и «управление ИБ под ключ»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 </a:t>
            </a:r>
            <a:r>
              <a:rPr lang="ru-RU" altLang="ru-RU" dirty="0" err="1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кастомизированная</a:t>
            </a:r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 статистика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 обмен опытом</a:t>
            </a: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+ осведомленность и обучение на местах с учетом возможностей </a:t>
            </a:r>
            <a:r>
              <a:rPr lang="ru-RU" altLang="ru-RU" dirty="0" err="1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аутсорсинга</a:t>
            </a:r>
            <a:endParaRPr lang="ru-RU" altLang="ru-RU" dirty="0" smtClean="0">
              <a:solidFill>
                <a:schemeClr val="tx2">
                  <a:lumMod val="10000"/>
                </a:schemeClr>
              </a:solidFill>
              <a:sym typeface="Arial"/>
            </a:endParaRPr>
          </a:p>
          <a:p>
            <a:endParaRPr lang="ru-RU" altLang="ru-RU" dirty="0" smtClean="0">
              <a:solidFill>
                <a:schemeClr val="tx2">
                  <a:lumMod val="10000"/>
                </a:schemeClr>
              </a:solidFill>
              <a:sym typeface="Arial"/>
            </a:endParaRPr>
          </a:p>
          <a:p>
            <a:r>
              <a:rPr lang="ru-RU" altLang="ru-RU" dirty="0" smtClean="0">
                <a:solidFill>
                  <a:schemeClr val="tx2">
                    <a:lumMod val="10000"/>
                  </a:schemeClr>
                </a:solidFill>
                <a:sym typeface="Arial"/>
              </a:rPr>
              <a:t>- затраты, в том числе операционные</a:t>
            </a:r>
          </a:p>
        </p:txBody>
      </p:sp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Зрелост</a:t>
            </a:r>
            <a:r>
              <a:rPr lang="ru-RU" dirty="0" smtClean="0">
                <a:solidFill>
                  <a:schemeClr val="bg1"/>
                </a:solidFill>
              </a:rPr>
              <a:t>ь ИБ при ЦТ и внедрении ИИ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85720" y="1643050"/>
            <a:ext cx="6572280" cy="1831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-2160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Blip>
                <a:blip r:embed="rId2"/>
              </a:buBlip>
            </a:pPr>
            <a:r>
              <a:rPr lang="ru-RU" sz="1400" b="1" i="1" dirty="0" smtClean="0">
                <a:solidFill>
                  <a:schemeClr val="bg1"/>
                </a:solidFill>
              </a:rPr>
              <a:t>готовность</a:t>
            </a:r>
            <a:r>
              <a:rPr lang="ru-RU" sz="1400" dirty="0" smtClean="0">
                <a:solidFill>
                  <a:schemeClr val="tx2">
                    <a:lumMod val="10000"/>
                  </a:schemeClr>
                </a:solidFill>
              </a:rPr>
              <a:t> систем ИТ (и других смежных систем) к внедрению цифровых платформ</a:t>
            </a:r>
          </a:p>
          <a:p>
            <a:pPr marL="216000" indent="-2160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Blip>
                <a:blip r:embed="rId2"/>
              </a:buBlip>
            </a:pPr>
            <a:r>
              <a:rPr lang="ru-RU" sz="1400" b="1" i="1" dirty="0" smtClean="0">
                <a:solidFill>
                  <a:schemeClr val="bg1"/>
                </a:solidFill>
              </a:rPr>
              <a:t>взаимодействие</a:t>
            </a:r>
            <a:r>
              <a:rPr lang="ru-RU" sz="1400" b="1" i="1" dirty="0" smtClean="0">
                <a:solidFill>
                  <a:schemeClr val="accent3"/>
                </a:solidFill>
              </a:rPr>
              <a:t> </a:t>
            </a:r>
            <a:r>
              <a:rPr lang="ru-RU" sz="1400" dirty="0" smtClean="0">
                <a:solidFill>
                  <a:schemeClr val="tx2">
                    <a:lumMod val="10000"/>
                  </a:schemeClr>
                </a:solidFill>
              </a:rPr>
              <a:t>подразделений для решения смежных задач (не исключать ИБ из принятия решений)</a:t>
            </a:r>
          </a:p>
          <a:p>
            <a:pPr marL="216000" indent="-21600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90000"/>
              <a:buBlip>
                <a:blip r:embed="rId2"/>
              </a:buBlip>
            </a:pPr>
            <a:r>
              <a:rPr lang="ru-RU" sz="1400" b="1" i="1" dirty="0" err="1" smtClean="0">
                <a:solidFill>
                  <a:schemeClr val="bg1"/>
                </a:solidFill>
              </a:rPr>
              <a:t>риск-ориентированный</a:t>
            </a:r>
            <a:r>
              <a:rPr lang="ru-RU" sz="1400" dirty="0" smtClean="0">
                <a:solidFill>
                  <a:schemeClr val="tx2">
                    <a:lumMod val="10000"/>
                  </a:schemeClr>
                </a:solidFill>
              </a:rPr>
              <a:t> подход к реализации новых сервисов и использования возможностей платформы</a:t>
            </a:r>
          </a:p>
          <a:p>
            <a:pPr marL="2044800" lvl="4" indent="-216000" algn="just">
              <a:spcBef>
                <a:spcPts val="600"/>
              </a:spcBef>
              <a:buSzPct val="90000"/>
              <a:buBlip>
                <a:blip r:embed="rId2"/>
              </a:buBlip>
            </a:pPr>
            <a:r>
              <a:rPr lang="ru-RU" sz="1400" dirty="0" smtClean="0">
                <a:solidFill>
                  <a:schemeClr val="tx2">
                    <a:lumMod val="10000"/>
                  </a:schemeClr>
                </a:solidFill>
              </a:rPr>
              <a:t>+ контроль за сервисами </a:t>
            </a:r>
            <a:r>
              <a:rPr lang="en-US" sz="1400" dirty="0" smtClean="0">
                <a:solidFill>
                  <a:schemeClr val="tx2">
                    <a:lumMod val="10000"/>
                  </a:schemeClr>
                </a:solidFill>
              </a:rPr>
              <a:t>No-Code </a:t>
            </a:r>
            <a:r>
              <a:rPr lang="ru-RU" sz="1400" dirty="0" smtClean="0">
                <a:solidFill>
                  <a:schemeClr val="tx2">
                    <a:lumMod val="10000"/>
                  </a:schemeClr>
                </a:solidFill>
              </a:rPr>
              <a:t>и </a:t>
            </a:r>
            <a:r>
              <a:rPr lang="en-US" sz="1400" dirty="0" smtClean="0">
                <a:solidFill>
                  <a:schemeClr val="tx2">
                    <a:lumMod val="10000"/>
                  </a:schemeClr>
                </a:solidFill>
              </a:rPr>
              <a:t>Low-Code</a:t>
            </a:r>
            <a:endParaRPr lang="ru-RU" sz="1400" b="1" i="1" dirty="0" smtClean="0">
              <a:solidFill>
                <a:schemeClr val="accent3"/>
              </a:solidFill>
            </a:endParaRPr>
          </a:p>
        </p:txBody>
      </p:sp>
      <p:graphicFrame>
        <p:nvGraphicFramePr>
          <p:cNvPr id="6" name="Содержимое 3"/>
          <p:cNvGraphicFramePr>
            <a:graphicFrameLocks/>
          </p:cNvGraphicFramePr>
          <p:nvPr/>
        </p:nvGraphicFramePr>
        <p:xfrm>
          <a:off x="2428860" y="3500438"/>
          <a:ext cx="6478081" cy="3040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Дополнительные условия реализации ИБ при ЦТ (пример)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142844" y="1571612"/>
          <a:ext cx="8715435" cy="5184572"/>
        </p:xfrm>
        <a:graphic>
          <a:graphicData uri="http://schemas.openxmlformats.org/drawingml/2006/table">
            <a:tbl>
              <a:tblPr/>
              <a:tblGrid>
                <a:gridCol w="1285884"/>
                <a:gridCol w="3467990"/>
                <a:gridCol w="2461364"/>
                <a:gridCol w="1500197"/>
              </a:tblGrid>
              <a:tr h="1451514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b="1" i="1" kern="5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Валидация</a:t>
                      </a:r>
                      <a:r>
                        <a:rPr lang="ru-RU" sz="1200" b="1" i="1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 данных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Назначение ролей и обязанностей по контролю, анализу и технологии безопасной </a:t>
                      </a:r>
                      <a:r>
                        <a:rPr lang="ru-RU" sz="1200" kern="50" dirty="0" err="1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валидации</a:t>
                      </a: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 данных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Разделение обязанностей в области безопасного анализа данных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Минимизация полномочий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Ограничение доступа к тестовым и имитационным моделям управления качеством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Ограничение доступа к источникам вспомогательных данных для валидации (записям, документам, регистрационным данным)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ГОСТ Р ИСО/МЭК 27002-2021, п. 6.1.1 (применимо)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1212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b="1" i="1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Использование данных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Разделение обязанностей в области безопасного использования данных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Минимизация полномочий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Обеспечение информационной безопасности при взаимодействии с органами власти и профессиональными сообществами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Управление доступом к данным на всех этапах жизненного цикла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kern="5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ГОСТ Р ИСО/МЭК 27002-2021, п. 6.1.1, 6.1.3, 6.1.4 (применимо)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0811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b="1" i="1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Общие процессы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Моделирование бизнес-процессов в области управления ИБ для уровня данных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Реализация политики управления данными в части ИБ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Оценка и контроль защищенности уровня данных модели управления </a:t>
                      </a:r>
                      <a:r>
                        <a:rPr lang="ru-RU" sz="1200" kern="50" dirty="0" smtClean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ИБ</a:t>
                      </a:r>
                      <a:endParaRPr lang="ru-RU" sz="1200" kern="50" dirty="0">
                        <a:solidFill>
                          <a:schemeClr val="bg1"/>
                        </a:solidFill>
                        <a:latin typeface="Arial" pitchFamily="34" charset="0"/>
                        <a:ea typeface="Droid Sans Fallback"/>
                        <a:cs typeface="Arial" pitchFamily="34" charset="0"/>
                      </a:endParaRP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Обеспечение безопасности дистанционной работы с данными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Управление активами, связанными с данными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Управление доступом к данным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Резервное копирование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Управление коммуникациями</a:t>
                      </a: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Управление тестовыми данными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Ограничение доступа к данным, используемым для формирования моделей чувствительных </a:t>
                      </a:r>
                      <a:r>
                        <a:rPr lang="ru-RU" sz="1200" kern="50" dirty="0" smtClean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бизнес-процессов</a:t>
                      </a:r>
                      <a:endParaRPr lang="ru-RU" sz="1200" kern="50" dirty="0">
                        <a:solidFill>
                          <a:schemeClr val="bg1"/>
                        </a:solidFill>
                        <a:latin typeface="Arial" pitchFamily="34" charset="0"/>
                        <a:ea typeface="Droid Sans Fallback"/>
                        <a:cs typeface="Arial" pitchFamily="34" charset="0"/>
                      </a:endParaRPr>
                    </a:p>
                    <a:p>
                      <a:pPr marL="0" lvl="0" indent="0" algn="ctr">
                        <a:spcAft>
                          <a:spcPts val="0"/>
                        </a:spcAft>
                        <a:buFont typeface="Symbol"/>
                        <a:buChar char=""/>
                        <a:tabLst>
                          <a:tab pos="107315" algn="l"/>
                        </a:tabLs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Учет требований при формировании руководящих указаний в части информационной безопасности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ru-RU" sz="1200" kern="50" dirty="0">
                          <a:solidFill>
                            <a:schemeClr val="bg1"/>
                          </a:solidFill>
                          <a:latin typeface="Arial" pitchFamily="34" charset="0"/>
                          <a:ea typeface="Droid Sans Fallback"/>
                          <a:cs typeface="Arial" pitchFamily="34" charset="0"/>
                        </a:rPr>
                        <a:t>ГОСТ Р ИСО/МЭК 27002-2021, п. 5.1, п. 6.2, п.8, п.9, п. 12.3, п. 13, п.14.3, п. 18 (применимо)</a:t>
                      </a:r>
                    </a:p>
                  </a:txBody>
                  <a:tcPr marL="67235" marR="6723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Дополнительные условия реализации ИБ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31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pSp>
        <p:nvGrpSpPr>
          <p:cNvPr id="38913" name="Group 1"/>
          <p:cNvGrpSpPr>
            <a:grpSpLocks noChangeAspect="1"/>
          </p:cNvGrpSpPr>
          <p:nvPr/>
        </p:nvGrpSpPr>
        <p:grpSpPr bwMode="auto">
          <a:xfrm>
            <a:off x="107362" y="1643050"/>
            <a:ext cx="8934988" cy="4929222"/>
            <a:chOff x="2350" y="3418"/>
            <a:chExt cx="9022" cy="4977"/>
          </a:xfrm>
        </p:grpSpPr>
        <p:sp>
          <p:nvSpPr>
            <p:cNvPr id="38930" name="AutoShape 18"/>
            <p:cNvSpPr>
              <a:spLocks noChangeAspect="1" noChangeArrowheads="1" noTextEdit="1"/>
            </p:cNvSpPr>
            <p:nvPr/>
          </p:nvSpPr>
          <p:spPr bwMode="auto">
            <a:xfrm>
              <a:off x="2350" y="3418"/>
              <a:ext cx="9022" cy="4977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29" name="Text Box 17"/>
            <p:cNvSpPr txBox="1">
              <a:spLocks noChangeArrowheads="1"/>
            </p:cNvSpPr>
            <p:nvPr/>
          </p:nvSpPr>
          <p:spPr bwMode="auto">
            <a:xfrm>
              <a:off x="2419" y="3495"/>
              <a:ext cx="567" cy="47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vert270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Формирование функционала</a:t>
              </a:r>
              <a:r>
                <a:rPr kumimoji="0" lang="ru-RU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 сервиса при ЦТ (</a:t>
              </a:r>
              <a:r>
                <a:rPr lang="ru-RU" sz="1200" b="1" dirty="0" smtClean="0">
                  <a:solidFill>
                    <a:schemeClr val="bg1"/>
                  </a:solidFill>
                  <a:latin typeface="Arial" pitchFamily="34" charset="0"/>
                  <a:ea typeface="Times New Roman" pitchFamily="18" charset="0"/>
                  <a:cs typeface="Arial" pitchFamily="34" charset="0"/>
                </a:rPr>
                <a:t>+ </a:t>
              </a:r>
              <a:r>
                <a:rPr kumimoji="0" lang="ru-RU" sz="1200" b="1" i="0" u="none" strike="noStrike" cap="none" normalizeH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использовании ИИ)</a:t>
              </a:r>
              <a:endParaRPr kumimoji="0" lang="ru-RU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8" name="Text Box 16"/>
            <p:cNvSpPr txBox="1">
              <a:spLocks noChangeArrowheads="1"/>
            </p:cNvSpPr>
            <p:nvPr/>
          </p:nvSpPr>
          <p:spPr bwMode="auto">
            <a:xfrm>
              <a:off x="3240" y="3541"/>
              <a:ext cx="2970" cy="10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Настройка конфигурации и уровня доступа к источникам данных и штатным средствам обработки</a:t>
              </a:r>
              <a:endParaRPr kumimoji="0" lang="ru-RU" sz="12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7" name="Text Box 15"/>
            <p:cNvSpPr txBox="1">
              <a:spLocks noChangeArrowheads="1"/>
            </p:cNvSpPr>
            <p:nvPr/>
          </p:nvSpPr>
          <p:spPr bwMode="auto">
            <a:xfrm>
              <a:off x="3240" y="4785"/>
              <a:ext cx="2970" cy="10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Распределение ролей, фиксация списка используемых учетных записей</a:t>
              </a:r>
              <a:endParaRPr kumimoji="0" lang="ru-RU" sz="12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6" name="Text Box 14"/>
            <p:cNvSpPr txBox="1">
              <a:spLocks noChangeArrowheads="1"/>
            </p:cNvSpPr>
            <p:nvPr/>
          </p:nvSpPr>
          <p:spPr bwMode="auto">
            <a:xfrm>
              <a:off x="3240" y="6029"/>
              <a:ext cx="2970" cy="10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общими ресурсами (использованием общих ресурсов)</a:t>
              </a:r>
              <a:endParaRPr kumimoji="0" lang="ru-RU" sz="12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5" name="Text Box 13"/>
            <p:cNvSpPr txBox="1">
              <a:spLocks noChangeArrowheads="1"/>
            </p:cNvSpPr>
            <p:nvPr/>
          </p:nvSpPr>
          <p:spPr bwMode="auto">
            <a:xfrm>
              <a:off x="3240" y="7141"/>
              <a:ext cx="2970" cy="11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0" i="0" u="none" strike="noStrike" cap="none" normalizeH="0" baseline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Управление архивированием и анализом технологических параметров, параметров информационных систем, параметров основных процессов и процедур</a:t>
              </a:r>
              <a:endParaRPr kumimoji="0" lang="ru-RU" sz="12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4" name="Rectangle 76"/>
            <p:cNvSpPr>
              <a:spLocks noChangeArrowheads="1"/>
            </p:cNvSpPr>
            <p:nvPr/>
          </p:nvSpPr>
          <p:spPr bwMode="auto">
            <a:xfrm>
              <a:off x="7859" y="3541"/>
              <a:ext cx="3096" cy="47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Минимизация полномочий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Ролевая модель управления доступом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Защита общих ресурсов от несанкционированного доступа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Обмен информацией через общие каналы связи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Правила и протоколы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Контроль целостности базы данных и отдельных записей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Char char="•"/>
                <a:tabLst>
                  <a:tab pos="90488" algn="l"/>
                </a:tabLst>
              </a:pPr>
              <a:r>
                <a:rPr kumimoji="0" lang="hi-IN" altLang="zh-CN" sz="1200" b="0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Liberation Serif"/>
                  <a:ea typeface="Droid Sans Fallback"/>
                  <a:cs typeface="Mangal"/>
                </a:rPr>
                <a:t>Резервное копирование</a:t>
              </a: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90488" algn="l"/>
                </a:tabLst>
              </a:pPr>
              <a:endParaRPr kumimoji="0" lang="en-US" altLang="zh-CN" sz="12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3" name="Text Box 11"/>
            <p:cNvSpPr txBox="1">
              <a:spLocks noChangeArrowheads="1"/>
            </p:cNvSpPr>
            <p:nvPr/>
          </p:nvSpPr>
          <p:spPr bwMode="auto">
            <a:xfrm>
              <a:off x="6945" y="3541"/>
              <a:ext cx="750" cy="47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vert270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ru-RU" sz="1200" b="1" i="0" u="none" strike="noStrike" cap="none" normalizeH="0" baseline="0" dirty="0" smtClean="0">
                  <a:ln>
                    <a:noFill/>
                  </a:ln>
                  <a:solidFill>
                    <a:schemeClr val="bg1"/>
                  </a:solidFill>
                  <a:effectLst/>
                  <a:latin typeface="Arial" pitchFamily="34" charset="0"/>
                  <a:ea typeface="Times New Roman" pitchFamily="18" charset="0"/>
                  <a:cs typeface="Arial" pitchFamily="34" charset="0"/>
                </a:rPr>
                <a:t>Аспекты безопасности при доступе к актуальным данным, резервным копиям и взаимодействию с архивными данными</a:t>
              </a:r>
              <a:endParaRPr kumimoji="0" lang="ru-RU" sz="12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922" name="AutoShape 10"/>
            <p:cNvSpPr>
              <a:spLocks noChangeShapeType="1"/>
            </p:cNvSpPr>
            <p:nvPr/>
          </p:nvSpPr>
          <p:spPr bwMode="auto">
            <a:xfrm flipV="1">
              <a:off x="2986" y="4043"/>
              <a:ext cx="254" cy="1837"/>
            </a:xfrm>
            <a:prstGeom prst="bentConnector3">
              <a:avLst>
                <a:gd name="adj1" fmla="val 49606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21" name="AutoShape 9"/>
            <p:cNvSpPr>
              <a:spLocks noChangeShapeType="1"/>
            </p:cNvSpPr>
            <p:nvPr/>
          </p:nvSpPr>
          <p:spPr bwMode="auto">
            <a:xfrm flipV="1">
              <a:off x="2986" y="5287"/>
              <a:ext cx="254" cy="593"/>
            </a:xfrm>
            <a:prstGeom prst="bentConnector3">
              <a:avLst>
                <a:gd name="adj1" fmla="val 49606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20" name="AutoShape 8"/>
            <p:cNvSpPr>
              <a:spLocks noChangeShapeType="1"/>
            </p:cNvSpPr>
            <p:nvPr/>
          </p:nvSpPr>
          <p:spPr bwMode="auto">
            <a:xfrm>
              <a:off x="2986" y="5880"/>
              <a:ext cx="254" cy="651"/>
            </a:xfrm>
            <a:prstGeom prst="bentConnector3">
              <a:avLst>
                <a:gd name="adj1" fmla="val 49606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9" name="AutoShape 7"/>
            <p:cNvSpPr>
              <a:spLocks noChangeShapeType="1"/>
            </p:cNvSpPr>
            <p:nvPr/>
          </p:nvSpPr>
          <p:spPr bwMode="auto">
            <a:xfrm>
              <a:off x="2986" y="5880"/>
              <a:ext cx="254" cy="1823"/>
            </a:xfrm>
            <a:prstGeom prst="bentConnector3">
              <a:avLst>
                <a:gd name="adj1" fmla="val 49606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8" name="AutoShape 6"/>
            <p:cNvSpPr>
              <a:spLocks noChangeShapeType="1"/>
            </p:cNvSpPr>
            <p:nvPr/>
          </p:nvSpPr>
          <p:spPr bwMode="auto">
            <a:xfrm>
              <a:off x="6210" y="4043"/>
              <a:ext cx="735" cy="1883"/>
            </a:xfrm>
            <a:prstGeom prst="bentConnector3">
              <a:avLst>
                <a:gd name="adj1" fmla="val 49931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7" name="AutoShape 5"/>
            <p:cNvSpPr>
              <a:spLocks noChangeShapeType="1"/>
            </p:cNvSpPr>
            <p:nvPr/>
          </p:nvSpPr>
          <p:spPr bwMode="auto">
            <a:xfrm>
              <a:off x="6210" y="5287"/>
              <a:ext cx="735" cy="639"/>
            </a:xfrm>
            <a:prstGeom prst="bentConnector3">
              <a:avLst>
                <a:gd name="adj1" fmla="val 49931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6" name="AutoShape 4"/>
            <p:cNvSpPr>
              <a:spLocks noChangeShapeType="1"/>
            </p:cNvSpPr>
            <p:nvPr/>
          </p:nvSpPr>
          <p:spPr bwMode="auto">
            <a:xfrm flipV="1">
              <a:off x="6210" y="5926"/>
              <a:ext cx="735" cy="605"/>
            </a:xfrm>
            <a:prstGeom prst="bentConnector3">
              <a:avLst>
                <a:gd name="adj1" fmla="val 49931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5" name="AutoShape 3"/>
            <p:cNvSpPr>
              <a:spLocks noChangeShapeType="1"/>
            </p:cNvSpPr>
            <p:nvPr/>
          </p:nvSpPr>
          <p:spPr bwMode="auto">
            <a:xfrm flipV="1">
              <a:off x="6210" y="5926"/>
              <a:ext cx="735" cy="1777"/>
            </a:xfrm>
            <a:prstGeom prst="bentConnector3">
              <a:avLst>
                <a:gd name="adj1" fmla="val 49931"/>
              </a:avLst>
            </a:prstGeom>
            <a:noFill/>
            <a:ln w="9525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  <p:sp>
          <p:nvSpPr>
            <p:cNvPr id="38914" name="AutoShape 2"/>
            <p:cNvSpPr>
              <a:spLocks noChangeShapeType="1"/>
            </p:cNvSpPr>
            <p:nvPr/>
          </p:nvSpPr>
          <p:spPr bwMode="auto">
            <a:xfrm>
              <a:off x="7695" y="5926"/>
              <a:ext cx="164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sz="12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Дополнительные условия реализации ИБ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85720" y="1714488"/>
            <a:ext cx="885828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Алгоритм</a:t>
            </a:r>
            <a:r>
              <a:rPr lang="en-US" b="1" i="1" dirty="0" smtClean="0">
                <a:solidFill>
                  <a:schemeClr val="bg1"/>
                </a:solidFill>
              </a:rPr>
              <a:t> </a:t>
            </a:r>
            <a:r>
              <a:rPr lang="ru-RU" b="1" i="1" dirty="0" smtClean="0">
                <a:solidFill>
                  <a:schemeClr val="bg1"/>
                </a:solidFill>
              </a:rPr>
              <a:t>управления ИБ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выглядит следующим образом: 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1.Формирование </a:t>
            </a:r>
            <a:r>
              <a:rPr lang="ru-RU" dirty="0" smtClean="0">
                <a:solidFill>
                  <a:schemeClr val="bg1"/>
                </a:solidFill>
              </a:rPr>
              <a:t>перечня автоматизируемых бизнес-процессов, их границ и </a:t>
            </a:r>
            <a:r>
              <a:rPr lang="ru-RU" dirty="0" smtClean="0">
                <a:solidFill>
                  <a:schemeClr val="bg1"/>
                </a:solidFill>
              </a:rPr>
              <a:t>текущих </a:t>
            </a:r>
            <a:r>
              <a:rPr lang="ru-RU" dirty="0" smtClean="0">
                <a:solidFill>
                  <a:schemeClr val="bg1"/>
                </a:solidFill>
              </a:rPr>
              <a:t>показателей. 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2.Определение </a:t>
            </a:r>
            <a:r>
              <a:rPr lang="ru-RU" dirty="0" smtClean="0">
                <a:solidFill>
                  <a:schemeClr val="bg1"/>
                </a:solidFill>
              </a:rPr>
              <a:t>перечня информационных систем, обрабатывающих информацию, необходимую для функционирования бизнес-процесса на текущем этапе, их взаимосвязи, перечень входных и выходных данных, текущий уровень </a:t>
            </a:r>
            <a:r>
              <a:rPr lang="ru-RU" dirty="0" smtClean="0">
                <a:solidFill>
                  <a:schemeClr val="bg1"/>
                </a:solidFill>
              </a:rPr>
              <a:t>защищенности </a:t>
            </a:r>
            <a:r>
              <a:rPr lang="ru-RU" dirty="0" smtClean="0">
                <a:solidFill>
                  <a:schemeClr val="bg1"/>
                </a:solidFill>
              </a:rPr>
              <a:t>и иные показатели информационной системы, отслеживаемые в </a:t>
            </a:r>
            <a:r>
              <a:rPr lang="ru-RU" dirty="0" smtClean="0">
                <a:solidFill>
                  <a:schemeClr val="bg1"/>
                </a:solidFill>
              </a:rPr>
              <a:t>нормальном </a:t>
            </a:r>
            <a:r>
              <a:rPr lang="ru-RU" dirty="0" smtClean="0">
                <a:solidFill>
                  <a:schemeClr val="bg1"/>
                </a:solidFill>
              </a:rPr>
              <a:t>режиме её функционирования. 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3.Формирование графа бизнес-процессов «как есть» до начала ЦТ с учетом </a:t>
            </a:r>
            <a:r>
              <a:rPr lang="ru-RU" dirty="0" smtClean="0">
                <a:solidFill>
                  <a:schemeClr val="bg1"/>
                </a:solidFill>
              </a:rPr>
              <a:t>рассмотренных </a:t>
            </a:r>
            <a:r>
              <a:rPr lang="ru-RU" dirty="0" smtClean="0">
                <a:solidFill>
                  <a:schemeClr val="bg1"/>
                </a:solidFill>
              </a:rPr>
              <a:t>выше требований.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Дополнительные условия реализации ИБ при ЦТ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484784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285720" y="1714488"/>
            <a:ext cx="88582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 smtClean="0">
                <a:solidFill>
                  <a:schemeClr val="bg1"/>
                </a:solidFill>
              </a:rPr>
              <a:t>Алгоритм</a:t>
            </a:r>
            <a:r>
              <a:rPr lang="en-US" b="1" i="1" dirty="0" smtClean="0">
                <a:solidFill>
                  <a:schemeClr val="bg1"/>
                </a:solidFill>
              </a:rPr>
              <a:t> </a:t>
            </a:r>
            <a:r>
              <a:rPr lang="ru-RU" b="1" i="1" dirty="0" smtClean="0">
                <a:solidFill>
                  <a:schemeClr val="bg1"/>
                </a:solidFill>
              </a:rPr>
              <a:t>управления ИБ</a:t>
            </a:r>
            <a:r>
              <a:rPr lang="ru-RU" dirty="0" smtClean="0">
                <a:solidFill>
                  <a:schemeClr val="bg1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выглядит следующим образом: 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4.Формирование графа бизнес-процессов «как должно быть» после окончания процесса ЦТ, как некого целевого значения к котором мы должны прийти по </a:t>
            </a:r>
            <a:r>
              <a:rPr lang="ru-RU" dirty="0" smtClean="0">
                <a:solidFill>
                  <a:schemeClr val="bg1"/>
                </a:solidFill>
              </a:rPr>
              <a:t>завершению </a:t>
            </a:r>
            <a:r>
              <a:rPr lang="ru-RU" dirty="0" smtClean="0">
                <a:solidFill>
                  <a:schemeClr val="bg1"/>
                </a:solidFill>
              </a:rPr>
              <a:t>ЦТ. 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5.Динамическое </a:t>
            </a:r>
            <a:r>
              <a:rPr lang="ru-RU" dirty="0" smtClean="0">
                <a:solidFill>
                  <a:schemeClr val="bg1"/>
                </a:solidFill>
              </a:rPr>
              <a:t>обновление графа БП «как есть» в текущий момент времени. 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6.Анализ </a:t>
            </a:r>
            <a:r>
              <a:rPr lang="ru-RU" dirty="0" smtClean="0">
                <a:solidFill>
                  <a:schemeClr val="bg1"/>
                </a:solidFill>
              </a:rPr>
              <a:t>предложенных метрик. </a:t>
            </a:r>
            <a:endParaRPr lang="ru-RU" dirty="0" smtClean="0">
              <a:solidFill>
                <a:schemeClr val="bg1"/>
              </a:solidFill>
            </a:endParaRPr>
          </a:p>
          <a:p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7.Формирование\актуализация </a:t>
            </a:r>
            <a:r>
              <a:rPr lang="ru-RU" dirty="0" smtClean="0">
                <a:solidFill>
                  <a:schemeClr val="bg1"/>
                </a:solidFill>
              </a:rPr>
              <a:t>перечня рисков и защитных мер, которые </a:t>
            </a:r>
            <a:r>
              <a:rPr lang="ru-RU" dirty="0" smtClean="0">
                <a:solidFill>
                  <a:schemeClr val="bg1"/>
                </a:solidFill>
              </a:rPr>
              <a:t>необходимо </a:t>
            </a:r>
            <a:r>
              <a:rPr lang="ru-RU" dirty="0" smtClean="0">
                <a:solidFill>
                  <a:schemeClr val="bg1"/>
                </a:solidFill>
              </a:rPr>
              <a:t>предпринять в текущем переходном состоянии ЦТ.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/>
            </a:r>
            <a:br>
              <a:rPr lang="ru-RU" dirty="0" smtClean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899080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Заключение</a:t>
            </a:r>
            <a:endParaRPr lang="ru-RU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31750">
            <a:solidFill>
              <a:srgbClr val="FF92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357158" y="1582341"/>
            <a:ext cx="85011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Подход, показанный выше, сосредоточен </a:t>
            </a:r>
            <a:r>
              <a:rPr lang="ru-RU" dirty="0" smtClean="0">
                <a:solidFill>
                  <a:schemeClr val="bg1"/>
                </a:solidFill>
              </a:rPr>
              <a:t>на формировании пригодных в практике </a:t>
            </a:r>
            <a:r>
              <a:rPr lang="ru-RU" b="1" dirty="0" smtClean="0">
                <a:solidFill>
                  <a:schemeClr val="bg1"/>
                </a:solidFill>
              </a:rPr>
              <a:t>рекомендаций и алгоритмов</a:t>
            </a:r>
            <a:r>
              <a:rPr lang="ru-RU" dirty="0" smtClean="0">
                <a:solidFill>
                  <a:schemeClr val="bg1"/>
                </a:solidFill>
              </a:rPr>
              <a:t> управления информационной безопасностью в процессе цифровой </a:t>
            </a:r>
            <a:r>
              <a:rPr lang="ru-RU" dirty="0" smtClean="0">
                <a:solidFill>
                  <a:schemeClr val="bg1"/>
                </a:solidFill>
              </a:rPr>
              <a:t>трансформации:</a:t>
            </a:r>
          </a:p>
          <a:p>
            <a:r>
              <a:rPr lang="ru-RU" dirty="0" smtClean="0">
                <a:solidFill>
                  <a:schemeClr val="bg1"/>
                </a:solidFill>
              </a:rPr>
              <a:t>с </a:t>
            </a:r>
            <a:r>
              <a:rPr lang="ru-RU" dirty="0" smtClean="0">
                <a:solidFill>
                  <a:schemeClr val="bg1"/>
                </a:solidFill>
              </a:rPr>
              <a:t>точки </a:t>
            </a:r>
            <a:r>
              <a:rPr lang="ru-RU" dirty="0" smtClean="0">
                <a:solidFill>
                  <a:schemeClr val="bg1"/>
                </a:solidFill>
              </a:rPr>
              <a:t>зрения </a:t>
            </a:r>
            <a:r>
              <a:rPr lang="ru-RU" dirty="0" smtClean="0">
                <a:solidFill>
                  <a:schemeClr val="bg1"/>
                </a:solidFill>
              </a:rPr>
              <a:t>традиционных подходов к управлению рисками и изменениями, </a:t>
            </a:r>
            <a:endParaRPr lang="ru-RU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с</a:t>
            </a:r>
            <a:r>
              <a:rPr lang="ru-RU" dirty="0" smtClean="0">
                <a:solidFill>
                  <a:schemeClr val="bg1"/>
                </a:solidFill>
              </a:rPr>
              <a:t> точки </a:t>
            </a:r>
            <a:r>
              <a:rPr lang="ru-RU" dirty="0" smtClean="0">
                <a:solidFill>
                  <a:schemeClr val="bg1"/>
                </a:solidFill>
              </a:rPr>
              <a:t>зрения комплексного подхода, учитывающего взаимосвязи бизнес-процессов и информационных систем, а также </a:t>
            </a:r>
            <a:r>
              <a:rPr lang="ru-RU" b="1" dirty="0" smtClean="0">
                <a:solidFill>
                  <a:schemeClr val="bg1"/>
                </a:solidFill>
              </a:rPr>
              <a:t>влияние изменений </a:t>
            </a:r>
            <a:r>
              <a:rPr lang="ru-RU" dirty="0" smtClean="0">
                <a:solidFill>
                  <a:schemeClr val="bg1"/>
                </a:solidFill>
              </a:rPr>
              <a:t>на смежные процессы и системы, </a:t>
            </a:r>
            <a:r>
              <a:rPr lang="ru-RU" dirty="0" smtClean="0">
                <a:solidFill>
                  <a:schemeClr val="bg1"/>
                </a:solidFill>
              </a:rPr>
              <a:t>организацию </a:t>
            </a:r>
            <a:r>
              <a:rPr lang="ru-RU" dirty="0" smtClean="0">
                <a:solidFill>
                  <a:schemeClr val="bg1"/>
                </a:solidFill>
              </a:rPr>
              <a:t>в целом.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 descr="DSCN5496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39106" y="3714752"/>
            <a:ext cx="5075666" cy="285752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3544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5576" y="3501008"/>
            <a:ext cx="6162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b="1" dirty="0" smtClean="0">
                <a:solidFill>
                  <a:schemeClr val="bg1"/>
                </a:solidFill>
              </a:rPr>
              <a:t>Спасибо за внимание!</a:t>
            </a:r>
            <a:endParaRPr lang="ru-RU" sz="4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63888" y="4581128"/>
            <a:ext cx="51845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chemeClr val="bg1"/>
                </a:solidFill>
              </a:rPr>
              <a:t>Вячеслав Золотарев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ru-RU" dirty="0" smtClean="0">
                <a:solidFill>
                  <a:schemeClr val="bg1"/>
                </a:solidFill>
              </a:rPr>
              <a:t>Сибирский государственный университе</a:t>
            </a:r>
            <a:r>
              <a:rPr lang="ru-RU" dirty="0" smtClean="0">
                <a:solidFill>
                  <a:schemeClr val="bg1"/>
                </a:solidFill>
              </a:rPr>
              <a:t>т науки и технологий имени академика М.Ф. </a:t>
            </a:r>
            <a:r>
              <a:rPr lang="ru-RU" dirty="0" err="1" smtClean="0">
                <a:solidFill>
                  <a:schemeClr val="bg1"/>
                </a:solidFill>
              </a:rPr>
              <a:t>Решетнева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amida</a:t>
            </a:r>
            <a:r>
              <a:rPr lang="en-US" dirty="0" smtClean="0">
                <a:solidFill>
                  <a:schemeClr val="bg1"/>
                </a:solidFill>
              </a:rPr>
              <a:t>.2</a:t>
            </a:r>
            <a:r>
              <a:rPr lang="en-US" dirty="0" smtClean="0">
                <a:solidFill>
                  <a:schemeClr val="bg1"/>
                </a:solidFill>
              </a:rPr>
              <a:t>@yandex.ru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806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0">
          <a:solidFill>
            <a:srgbClr val="FF920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4699</TotalTime>
  <Words>1338</Words>
  <Application>Microsoft Office PowerPoint</Application>
  <PresentationFormat>Экран (4:3)</PresentationFormat>
  <Paragraphs>243</Paragraphs>
  <Slides>21</Slides>
  <Notes>3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ИБ-вызовы при цифровой трансформации и использовании ИИ в бизнес-процессах</vt:lpstr>
      <vt:lpstr>Основные причины ИБ-проблем при ЦТ</vt:lpstr>
      <vt:lpstr>Уровни ИБ-проблем при ЦТ</vt:lpstr>
      <vt:lpstr>Уровни инфраструктуры ЦТ</vt:lpstr>
      <vt:lpstr>Основные пути решения</vt:lpstr>
      <vt:lpstr>Основные пути решения</vt:lpstr>
      <vt:lpstr>Основные пути решения</vt:lpstr>
      <vt:lpstr>Описание исследуемой области</vt:lpstr>
      <vt:lpstr>Анализ процесса ЦТ</vt:lpstr>
      <vt:lpstr>Комплексирование задач ИБ при ЦТ</vt:lpstr>
      <vt:lpstr>Проблематика внедрения ИИ при ЦТ</vt:lpstr>
      <vt:lpstr>Анализ ЦТ при внедрении ИИ</vt:lpstr>
      <vt:lpstr>Оценка политик безопасности при внедрении ИИ</vt:lpstr>
      <vt:lpstr>Дополнительные условия реализации ИБ при ЦТ</vt:lpstr>
      <vt:lpstr>Зрелость ИБ при ЦТ и внедрении ИИ</vt:lpstr>
      <vt:lpstr>Дополнительные условия реализации ИБ при ЦТ (пример)</vt:lpstr>
      <vt:lpstr>Дополнительные условия реализации ИБ при ЦТ</vt:lpstr>
      <vt:lpstr>Дополнительные условия реализации ИБ при ЦТ</vt:lpstr>
      <vt:lpstr>Дополнительные условия реализации ИБ при ЦТ</vt:lpstr>
      <vt:lpstr>Заключение</vt:lpstr>
      <vt:lpstr>Слайд 21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Maxim Shudrak</dc:creator>
  <cp:lastModifiedBy>Honor</cp:lastModifiedBy>
  <cp:revision>222</cp:revision>
  <dcterms:created xsi:type="dcterms:W3CDTF">2015-04-06T09:58:19Z</dcterms:created>
  <dcterms:modified xsi:type="dcterms:W3CDTF">2025-11-25T16:10:17Z</dcterms:modified>
</cp:coreProperties>
</file>